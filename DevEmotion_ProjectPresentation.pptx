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Roboto Black" panose="02000000000000000000" pitchFamily="2" charset="0"/>
      <p:bold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7D170A-CA31-4009-BF42-0D80B838F218}" v="37" dt="2025-12-29T21:52:32.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b3e2f2ad15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b3e2f2ad15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3e2f2ad15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3e2f2ad15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b3e2f2ad15_19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b3e2f2ad15_19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3e2f2ad15_19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3e2f2ad15_19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b3e2f2ad15_19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b3e2f2ad15_19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3e2f2ad15_19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3e2f2ad15_19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3e2f2ad15_19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3e2f2ad15_19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b3e2f2ad15_19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b3e2f2ad15_19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b3e2f2ad15_19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b3e2f2ad15_19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b3e2f2ad15_19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b3e2f2ad15_19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b3e2f2ad15_19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b3e2f2ad15_19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b3e2f2ad15_19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b3e2f2ad15_19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b3fa3bd60f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3fa3bd60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b3e2f2ad15_19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b3e2f2ad15_19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hyperlink" Target="https://www.youtube.com/watch?v=7YHrash9o2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a:stretch/>
        </p:blipFill>
        <p:spPr>
          <a:xfrm>
            <a:off x="-28700" y="-16025"/>
            <a:ext cx="9226600" cy="5159525"/>
          </a:xfrm>
          <a:prstGeom prst="rect">
            <a:avLst/>
          </a:prstGeom>
          <a:noFill/>
          <a:ln>
            <a:noFill/>
          </a:ln>
        </p:spPr>
      </p:pic>
      <p:sp>
        <p:nvSpPr>
          <p:cNvPr id="55" name="Google Shape;55;p13"/>
          <p:cNvSpPr txBox="1"/>
          <p:nvPr/>
        </p:nvSpPr>
        <p:spPr>
          <a:xfrm>
            <a:off x="54200" y="368500"/>
            <a:ext cx="9143700" cy="1134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rgbClr val="FFFFFF"/>
                </a:solidFill>
                <a:latin typeface="Roboto Black"/>
                <a:ea typeface="Roboto Black"/>
                <a:cs typeface="Roboto Black"/>
                <a:sym typeface="Roboto Black"/>
              </a:rPr>
              <a:t>DEVEMOTION</a:t>
            </a:r>
            <a:endParaRPr sz="5000">
              <a:solidFill>
                <a:srgbClr val="FFFFFF"/>
              </a:solidFill>
              <a:latin typeface="Roboto Black"/>
              <a:ea typeface="Roboto Black"/>
              <a:cs typeface="Roboto Black"/>
              <a:sym typeface="Roboto Black"/>
            </a:endParaRPr>
          </a:p>
        </p:txBody>
      </p:sp>
      <p:sp>
        <p:nvSpPr>
          <p:cNvPr id="56" name="Google Shape;56;p13"/>
          <p:cNvSpPr txBox="1"/>
          <p:nvPr/>
        </p:nvSpPr>
        <p:spPr>
          <a:xfrm>
            <a:off x="150" y="1856575"/>
            <a:ext cx="9143700" cy="1108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FFFFFF"/>
                </a:solidFill>
                <a:latin typeface="Roboto Black"/>
                <a:ea typeface="Roboto Black"/>
                <a:cs typeface="Roboto Black"/>
                <a:sym typeface="Roboto Black"/>
              </a:rPr>
              <a:t>Yüz İfadelerinden Duygu Analizi ve Duygu Durumuna Bağlı Film Öneri Sistemi</a:t>
            </a:r>
            <a:endParaRPr sz="3000">
              <a:solidFill>
                <a:srgbClr val="FFFFFF"/>
              </a:solidFill>
              <a:latin typeface="Roboto Black"/>
              <a:ea typeface="Roboto Black"/>
              <a:cs typeface="Roboto Black"/>
              <a:sym typeface="Roboto Black"/>
            </a:endParaRPr>
          </a:p>
        </p:txBody>
      </p:sp>
      <p:sp>
        <p:nvSpPr>
          <p:cNvPr id="57" name="Google Shape;57;p13"/>
          <p:cNvSpPr txBox="1"/>
          <p:nvPr/>
        </p:nvSpPr>
        <p:spPr>
          <a:xfrm>
            <a:off x="150" y="3477025"/>
            <a:ext cx="9143700" cy="646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FFFFFF"/>
                </a:solidFill>
                <a:latin typeface="Roboto Black"/>
                <a:ea typeface="Roboto Black"/>
                <a:cs typeface="Roboto Black"/>
                <a:sym typeface="Roboto Black"/>
              </a:rPr>
              <a:t>Derin Öğrenme Güz Projesi</a:t>
            </a:r>
            <a:endParaRPr sz="3000">
              <a:solidFill>
                <a:srgbClr val="FFFFFF"/>
              </a:solidFill>
              <a:latin typeface="Roboto Black"/>
              <a:ea typeface="Roboto Black"/>
              <a:cs typeface="Roboto Black"/>
              <a:sym typeface="Roboto Black"/>
            </a:endParaRPr>
          </a:p>
        </p:txBody>
      </p:sp>
      <p:sp>
        <p:nvSpPr>
          <p:cNvPr id="2" name="Metin kutusu 1">
            <a:extLst>
              <a:ext uri="{FF2B5EF4-FFF2-40B4-BE49-F238E27FC236}">
                <a16:creationId xmlns:a16="http://schemas.microsoft.com/office/drawing/2014/main" id="{15B36E62-B5D7-0291-3BCC-0C2CD7B4F162}"/>
              </a:ext>
            </a:extLst>
          </p:cNvPr>
          <p:cNvSpPr txBox="1"/>
          <p:nvPr/>
        </p:nvSpPr>
        <p:spPr>
          <a:xfrm>
            <a:off x="1316437" y="4245033"/>
            <a:ext cx="672681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dirty="0">
                <a:solidFill>
                  <a:schemeClr val="bg1"/>
                </a:solidFill>
                <a:hlinkClick r:id="rId4">
                  <a:extLst>
                    <a:ext uri="{A12FA001-AC4F-418D-AE19-62706E023703}">
                      <ahyp:hlinkClr xmlns:ahyp="http://schemas.microsoft.com/office/drawing/2018/hyperlinkcolor" val="tx"/>
                    </a:ext>
                  </a:extLst>
                </a:hlinkClick>
              </a:rPr>
              <a:t>FET312 Derin Öğrenme Projesi: Duygu Durumuna Göre Film Önerisi | DevEmotion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63" name="Google Shape;63;p14"/>
          <p:cNvSpPr txBox="1"/>
          <p:nvPr/>
        </p:nvSpPr>
        <p:spPr>
          <a:xfrm>
            <a:off x="38725" y="19925"/>
            <a:ext cx="9143700" cy="1134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Problem Tanımı ve Motivasyon:</a:t>
            </a:r>
            <a:endParaRPr sz="4000">
              <a:solidFill>
                <a:srgbClr val="FFFFFF"/>
              </a:solidFill>
              <a:latin typeface="Roboto Black"/>
              <a:ea typeface="Roboto Black"/>
              <a:cs typeface="Roboto Black"/>
              <a:sym typeface="Roboto Black"/>
            </a:endParaRPr>
          </a:p>
        </p:txBody>
      </p:sp>
      <p:sp>
        <p:nvSpPr>
          <p:cNvPr id="64" name="Google Shape;64;p14"/>
          <p:cNvSpPr txBox="1"/>
          <p:nvPr/>
        </p:nvSpPr>
        <p:spPr>
          <a:xfrm>
            <a:off x="-15950" y="1416050"/>
            <a:ext cx="9182400" cy="1662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600">
                <a:solidFill>
                  <a:srgbClr val="FFFFFF"/>
                </a:solidFill>
                <a:latin typeface="Roboto Black"/>
                <a:ea typeface="Roboto Black"/>
                <a:cs typeface="Roboto Black"/>
                <a:sym typeface="Roboto Black"/>
              </a:rPr>
              <a:t>Günümüzde dijital içerik platformlarındaki seçenek bolluğu, kullanıcıların "karar yorgunluğu" yaşamasına neden olmaktadır. İnsanların film tercihleri, o anki duygusal durumlarıyla doğrudan ilişkilidir. Bu projede, kullanıcının manuel veri girişi yapmasına gerek kalmadan, web kamerası veya fotoğraf üzerinden yüz ifadesini analiz ederek duygu durumunu tespit eden ve bu duyguya en uygun filmi öneren yapay zeka tabanlı bir sistem geliştirilmesi amaçlanmaktadır.</a:t>
            </a: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p:txBody>
      </p:sp>
      <p:sp>
        <p:nvSpPr>
          <p:cNvPr id="65" name="Google Shape;65;p14"/>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pic>
        <p:nvPicPr>
          <p:cNvPr id="66" name="Google Shape;66;p14"/>
          <p:cNvPicPr preferRelativeResize="0"/>
          <p:nvPr/>
        </p:nvPicPr>
        <p:blipFill>
          <a:blip r:embed="rId4">
            <a:alphaModFix/>
          </a:blip>
          <a:stretch>
            <a:fillRect/>
          </a:stretch>
        </p:blipFill>
        <p:spPr>
          <a:xfrm>
            <a:off x="650975" y="3477025"/>
            <a:ext cx="2039152" cy="1666475"/>
          </a:xfrm>
          <a:prstGeom prst="rect">
            <a:avLst/>
          </a:prstGeom>
          <a:noFill/>
          <a:ln>
            <a:noFill/>
          </a:ln>
        </p:spPr>
      </p:pic>
      <p:pic>
        <p:nvPicPr>
          <p:cNvPr id="67" name="Google Shape;67;p14"/>
          <p:cNvPicPr preferRelativeResize="0"/>
          <p:nvPr/>
        </p:nvPicPr>
        <p:blipFill>
          <a:blip r:embed="rId5">
            <a:alphaModFix/>
          </a:blip>
          <a:stretch>
            <a:fillRect/>
          </a:stretch>
        </p:blipFill>
        <p:spPr>
          <a:xfrm>
            <a:off x="3742013" y="3477025"/>
            <a:ext cx="1666474" cy="1666474"/>
          </a:xfrm>
          <a:prstGeom prst="rect">
            <a:avLst/>
          </a:prstGeom>
          <a:noFill/>
          <a:ln>
            <a:noFill/>
          </a:ln>
        </p:spPr>
      </p:pic>
      <p:pic>
        <p:nvPicPr>
          <p:cNvPr id="68" name="Google Shape;68;p14"/>
          <p:cNvPicPr preferRelativeResize="0"/>
          <p:nvPr/>
        </p:nvPicPr>
        <p:blipFill>
          <a:blip r:embed="rId6">
            <a:alphaModFix/>
          </a:blip>
          <a:stretch>
            <a:fillRect/>
          </a:stretch>
        </p:blipFill>
        <p:spPr>
          <a:xfrm>
            <a:off x="6413896" y="3477025"/>
            <a:ext cx="2423332" cy="1666475"/>
          </a:xfrm>
          <a:prstGeom prst="rect">
            <a:avLst/>
          </a:prstGeom>
          <a:noFill/>
          <a:ln>
            <a:noFill/>
          </a:ln>
        </p:spPr>
      </p:pic>
      <p:sp>
        <p:nvSpPr>
          <p:cNvPr id="69" name="Google Shape;69;p14"/>
          <p:cNvSpPr/>
          <p:nvPr/>
        </p:nvSpPr>
        <p:spPr>
          <a:xfrm>
            <a:off x="2690125" y="3989275"/>
            <a:ext cx="1014900" cy="456900"/>
          </a:xfrm>
          <a:prstGeom prst="strip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4"/>
          <p:cNvSpPr/>
          <p:nvPr/>
        </p:nvSpPr>
        <p:spPr>
          <a:xfrm>
            <a:off x="5485925" y="3989275"/>
            <a:ext cx="1014900" cy="456900"/>
          </a:xfrm>
          <a:prstGeom prst="strip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5"/>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76" name="Google Shape;76;p15"/>
          <p:cNvSpPr txBox="1"/>
          <p:nvPr/>
        </p:nvSpPr>
        <p:spPr>
          <a:xfrm>
            <a:off x="-25475" y="19925"/>
            <a:ext cx="9207900" cy="1134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Görev Türü</a:t>
            </a:r>
            <a:endParaRPr sz="4000">
              <a:solidFill>
                <a:srgbClr val="FFFFFF"/>
              </a:solidFill>
              <a:latin typeface="Roboto Black"/>
              <a:ea typeface="Roboto Black"/>
              <a:cs typeface="Roboto Black"/>
              <a:sym typeface="Roboto Black"/>
            </a:endParaRPr>
          </a:p>
        </p:txBody>
      </p:sp>
      <p:sp>
        <p:nvSpPr>
          <p:cNvPr id="77" name="Google Shape;77;p15"/>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78" name="Google Shape;78;p15"/>
          <p:cNvSpPr txBox="1"/>
          <p:nvPr/>
        </p:nvSpPr>
        <p:spPr>
          <a:xfrm>
            <a:off x="-12725" y="1094100"/>
            <a:ext cx="9182400" cy="2955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1. Görüntü Sınıflandırma (Image Classification):</a:t>
            </a:r>
            <a:r>
              <a:rPr lang="en" sz="1600">
                <a:solidFill>
                  <a:srgbClr val="FFFFFF"/>
                </a:solidFill>
                <a:latin typeface="Roboto Black"/>
                <a:ea typeface="Roboto Black"/>
                <a:cs typeface="Roboto Black"/>
                <a:sym typeface="Roboto Black"/>
              </a:rPr>
              <a:t> Yüz görüntüsünden 7 temel duygunun tespiti.</a:t>
            </a: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16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2. Öneri Sistemi (Recommendation):</a:t>
            </a:r>
            <a:r>
              <a:rPr lang="en" sz="1800">
                <a:solidFill>
                  <a:srgbClr val="FFFFFF"/>
                </a:solidFill>
                <a:latin typeface="Roboto Black"/>
                <a:ea typeface="Roboto Black"/>
                <a:cs typeface="Roboto Black"/>
                <a:sym typeface="Roboto Black"/>
              </a:rPr>
              <a:t> </a:t>
            </a:r>
            <a:r>
              <a:rPr lang="en" sz="1600">
                <a:solidFill>
                  <a:srgbClr val="FFFFFF"/>
                </a:solidFill>
                <a:latin typeface="Roboto Black"/>
                <a:ea typeface="Roboto Black"/>
                <a:cs typeface="Roboto Black"/>
                <a:sym typeface="Roboto Black"/>
              </a:rPr>
              <a:t>Tespit edilen duygu sınıfına göre kural tabanlı film eşleştirme.</a:t>
            </a:r>
            <a:endParaRPr sz="1600">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sz="1600">
              <a:solidFill>
                <a:srgbClr val="FFFFFF"/>
              </a:solidFill>
              <a:latin typeface="Roboto Black"/>
              <a:ea typeface="Roboto Black"/>
              <a:cs typeface="Roboto Black"/>
              <a:sym typeface="Roboto Black"/>
            </a:endParaRPr>
          </a:p>
        </p:txBody>
      </p:sp>
      <p:pic>
        <p:nvPicPr>
          <p:cNvPr id="79" name="Google Shape;79;p15"/>
          <p:cNvPicPr preferRelativeResize="0"/>
          <p:nvPr/>
        </p:nvPicPr>
        <p:blipFill>
          <a:blip r:embed="rId4">
            <a:alphaModFix/>
          </a:blip>
          <a:stretch>
            <a:fillRect/>
          </a:stretch>
        </p:blipFill>
        <p:spPr>
          <a:xfrm>
            <a:off x="1922075" y="1813975"/>
            <a:ext cx="5293549" cy="1345200"/>
          </a:xfrm>
          <a:prstGeom prst="rect">
            <a:avLst/>
          </a:prstGeom>
          <a:noFill/>
          <a:ln>
            <a:noFill/>
          </a:ln>
        </p:spPr>
      </p:pic>
      <p:pic>
        <p:nvPicPr>
          <p:cNvPr id="80" name="Google Shape;80;p15"/>
          <p:cNvPicPr preferRelativeResize="0"/>
          <p:nvPr/>
        </p:nvPicPr>
        <p:blipFill rotWithShape="1">
          <a:blip r:embed="rId5">
            <a:alphaModFix/>
          </a:blip>
          <a:srcRect b="67696"/>
          <a:stretch/>
        </p:blipFill>
        <p:spPr>
          <a:xfrm>
            <a:off x="4045250" y="3741825"/>
            <a:ext cx="2745312" cy="1401676"/>
          </a:xfrm>
          <a:prstGeom prst="rect">
            <a:avLst/>
          </a:prstGeom>
          <a:noFill/>
          <a:ln>
            <a:noFill/>
          </a:ln>
        </p:spPr>
      </p:pic>
      <p:pic>
        <p:nvPicPr>
          <p:cNvPr id="81" name="Google Shape;81;p15" title="3c524aa9-5fde-4be8-8ba9-29b605af1ef5.png"/>
          <p:cNvPicPr preferRelativeResize="0"/>
          <p:nvPr/>
        </p:nvPicPr>
        <p:blipFill rotWithShape="1">
          <a:blip r:embed="rId5">
            <a:alphaModFix/>
          </a:blip>
          <a:srcRect l="4055" t="35238" r="5019" b="3165"/>
          <a:stretch/>
        </p:blipFill>
        <p:spPr>
          <a:xfrm>
            <a:off x="2788875" y="3741825"/>
            <a:ext cx="1256375" cy="14016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6"/>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87" name="Google Shape;87;p16"/>
          <p:cNvSpPr txBox="1"/>
          <p:nvPr/>
        </p:nvSpPr>
        <p:spPr>
          <a:xfrm>
            <a:off x="-25475" y="19925"/>
            <a:ext cx="9207900" cy="1134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Proje Yönetimi</a:t>
            </a:r>
            <a:endParaRPr sz="4000">
              <a:solidFill>
                <a:srgbClr val="FFFFFF"/>
              </a:solidFill>
              <a:latin typeface="Roboto Black"/>
              <a:ea typeface="Roboto Black"/>
              <a:cs typeface="Roboto Black"/>
              <a:sym typeface="Roboto Black"/>
            </a:endParaRPr>
          </a:p>
        </p:txBody>
      </p:sp>
      <p:sp>
        <p:nvSpPr>
          <p:cNvPr id="88" name="Google Shape;88;p16"/>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89" name="Google Shape;89;p16"/>
          <p:cNvSpPr txBox="1"/>
          <p:nvPr/>
        </p:nvSpPr>
        <p:spPr>
          <a:xfrm>
            <a:off x="-12725" y="946925"/>
            <a:ext cx="9182400" cy="4247286"/>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1600" u="sng" dirty="0">
                <a:solidFill>
                  <a:srgbClr val="FFFFFF"/>
                </a:solidFill>
                <a:latin typeface="Roboto Black"/>
                <a:ea typeface="Roboto Black"/>
                <a:cs typeface="Roboto Black"/>
                <a:sym typeface="Roboto Black"/>
              </a:rPr>
              <a:t>1. </a:t>
            </a:r>
            <a:r>
              <a:rPr lang="en" sz="1600" u="sng" dirty="0" err="1">
                <a:solidFill>
                  <a:srgbClr val="FFFFFF"/>
                </a:solidFill>
                <a:latin typeface="Roboto Black"/>
                <a:ea typeface="Roboto Black"/>
                <a:cs typeface="Roboto Black"/>
                <a:sym typeface="Roboto Black"/>
              </a:rPr>
              <a:t>Hafta</a:t>
            </a:r>
            <a:r>
              <a:rPr lang="en" sz="1600" u="sng" dirty="0">
                <a:solidFill>
                  <a:srgbClr val="FFFFFF"/>
                </a:solidFill>
                <a:latin typeface="Roboto Black"/>
                <a:ea typeface="Roboto Black"/>
                <a:cs typeface="Roboto Black"/>
                <a:sym typeface="Roboto Black"/>
              </a:rPr>
              <a:t>:</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Proje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konusunun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netleştirilmesi</a:t>
            </a:r>
            <a:r>
              <a:rPr lang="en" dirty="0">
                <a:solidFill>
                  <a:srgbClr val="FFFFFF"/>
                </a:solidFill>
                <a:latin typeface="Roboto Black"/>
                <a:ea typeface="Roboto Black"/>
                <a:cs typeface="Roboto Black"/>
                <a:sym typeface="Roboto Black"/>
              </a:rPr>
              <a:t>, FER-2013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IMDB </a:t>
            </a:r>
            <a:r>
              <a:rPr lang="en" dirty="0" err="1">
                <a:solidFill>
                  <a:srgbClr val="FFFFFF"/>
                </a:solidFill>
                <a:latin typeface="Roboto Black"/>
                <a:ea typeface="Roboto Black"/>
                <a:cs typeface="Roboto Black"/>
                <a:sym typeface="Roboto Black"/>
              </a:rPr>
              <a:t>veri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setlerinin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temini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literatür</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taraması</a:t>
            </a:r>
            <a:r>
              <a:rPr lang="en" dirty="0">
                <a:solidFill>
                  <a:srgbClr val="FFFFFF"/>
                </a:solidFill>
                <a:latin typeface="Roboto Black"/>
                <a:ea typeface="Roboto Black"/>
                <a:cs typeface="Roboto Black"/>
                <a:sym typeface="Roboto Black"/>
              </a:rPr>
              <a:t>.</a:t>
            </a:r>
            <a:endParaRPr dirty="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600" u="sng" dirty="0">
                <a:solidFill>
                  <a:srgbClr val="FFFFFF"/>
                </a:solidFill>
                <a:latin typeface="Roboto Black"/>
                <a:ea typeface="Roboto Black"/>
                <a:cs typeface="Roboto Black"/>
                <a:sym typeface="Roboto Black"/>
              </a:rPr>
              <a:t>2. </a:t>
            </a:r>
            <a:r>
              <a:rPr lang="en" sz="1600" u="sng" dirty="0" err="1">
                <a:solidFill>
                  <a:srgbClr val="FFFFFF"/>
                </a:solidFill>
                <a:latin typeface="Roboto Black"/>
                <a:ea typeface="Roboto Black"/>
                <a:cs typeface="Roboto Black"/>
                <a:sym typeface="Roboto Black"/>
              </a:rPr>
              <a:t>Hafta</a:t>
            </a:r>
            <a:r>
              <a:rPr lang="en" sz="1600" u="sng" dirty="0">
                <a:solidFill>
                  <a:srgbClr val="FFFFFF"/>
                </a:solidFill>
                <a:latin typeface="Roboto Black"/>
                <a:ea typeface="Roboto Black"/>
                <a:cs typeface="Roboto Black"/>
                <a:sym typeface="Roboto Black"/>
              </a:rPr>
              <a:t>:</a:t>
            </a:r>
            <a:r>
              <a:rPr lang="en" sz="1600" dirty="0">
                <a:solidFill>
                  <a:srgbClr val="FFFFFF"/>
                </a:solidFill>
                <a:latin typeface="Roboto Black"/>
                <a:ea typeface="Roboto Black"/>
                <a:cs typeface="Roboto Black"/>
                <a:sym typeface="Roboto Black"/>
              </a:rPr>
              <a:t> </a:t>
            </a:r>
            <a:r>
              <a:rPr lang="en" dirty="0">
                <a:solidFill>
                  <a:srgbClr val="FFFFFF"/>
                </a:solidFill>
                <a:latin typeface="Roboto Black"/>
                <a:ea typeface="Roboto Black"/>
                <a:cs typeface="Roboto Black"/>
                <a:sym typeface="Roboto Black"/>
              </a:rPr>
              <a:t>Veri </a:t>
            </a:r>
            <a:r>
              <a:rPr lang="en" dirty="0" err="1">
                <a:solidFill>
                  <a:srgbClr val="FFFFFF"/>
                </a:solidFill>
                <a:latin typeface="Roboto Black"/>
                <a:ea typeface="Roboto Black"/>
                <a:cs typeface="Roboto Black"/>
                <a:sym typeface="Roboto Black"/>
              </a:rPr>
              <a:t>İnceleme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Ön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İşleme</a:t>
            </a:r>
            <a:r>
              <a:rPr lang="en" dirty="0">
                <a:solidFill>
                  <a:srgbClr val="FFFFFF"/>
                </a:solidFill>
                <a:latin typeface="Roboto Black"/>
                <a:ea typeface="Roboto Black"/>
                <a:cs typeface="Roboto Black"/>
                <a:sym typeface="Roboto Black"/>
              </a:rPr>
              <a:t>. FER-2013 </a:t>
            </a:r>
            <a:r>
              <a:rPr lang="en" dirty="0" err="1">
                <a:solidFill>
                  <a:srgbClr val="FFFFFF"/>
                </a:solidFill>
                <a:latin typeface="Roboto Black"/>
                <a:ea typeface="Roboto Black"/>
                <a:cs typeface="Roboto Black"/>
                <a:sym typeface="Roboto Black"/>
              </a:rPr>
              <a:t>görsellerinin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tensore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dönüştürülmesi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IMDB </a:t>
            </a:r>
            <a:r>
              <a:rPr lang="en" dirty="0" err="1">
                <a:solidFill>
                  <a:srgbClr val="FFFFFF"/>
                </a:solidFill>
                <a:latin typeface="Roboto Black"/>
                <a:ea typeface="Roboto Black"/>
                <a:cs typeface="Roboto Black"/>
                <a:sym typeface="Roboto Black"/>
              </a:rPr>
              <a:t>veri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setindeki</a:t>
            </a:r>
            <a:r>
              <a:rPr lang="en" dirty="0">
                <a:solidFill>
                  <a:srgbClr val="FFFFFF"/>
                </a:solidFill>
                <a:latin typeface="Roboto Black"/>
                <a:ea typeface="Roboto Black"/>
                <a:cs typeface="Roboto Black"/>
                <a:sym typeface="Roboto Black"/>
              </a:rPr>
              <a:t> film </a:t>
            </a:r>
            <a:r>
              <a:rPr lang="en" dirty="0" err="1">
                <a:solidFill>
                  <a:srgbClr val="FFFFFF"/>
                </a:solidFill>
                <a:latin typeface="Roboto Black"/>
                <a:ea typeface="Roboto Black"/>
                <a:cs typeface="Roboto Black"/>
                <a:sym typeface="Roboto Black"/>
              </a:rPr>
              <a:t>türlerinin</a:t>
            </a:r>
            <a:r>
              <a:rPr lang="en" dirty="0">
                <a:solidFill>
                  <a:srgbClr val="FFFFFF"/>
                </a:solidFill>
                <a:latin typeface="Roboto Black"/>
                <a:ea typeface="Roboto Black"/>
                <a:cs typeface="Roboto Black"/>
                <a:sym typeface="Roboto Black"/>
              </a:rPr>
              <a:t> 7 </a:t>
            </a:r>
            <a:r>
              <a:rPr lang="en" dirty="0" err="1">
                <a:solidFill>
                  <a:srgbClr val="FFFFFF"/>
                </a:solidFill>
                <a:latin typeface="Roboto Black"/>
                <a:ea typeface="Roboto Black"/>
                <a:cs typeface="Roboto Black"/>
                <a:sym typeface="Roboto Black"/>
              </a:rPr>
              <a:t>temel</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duygu</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sınıfı</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ile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eşleştirilmesi</a:t>
            </a:r>
            <a:r>
              <a:rPr lang="en" dirty="0">
                <a:solidFill>
                  <a:srgbClr val="FFFFFF"/>
                </a:solidFill>
                <a:latin typeface="Roboto Black"/>
                <a:ea typeface="Roboto Black"/>
                <a:cs typeface="Roboto Black"/>
                <a:sym typeface="Roboto Black"/>
              </a:rPr>
              <a:t>.</a:t>
            </a:r>
            <a:endParaRPr dirty="0">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600" u="sng" dirty="0">
                <a:solidFill>
                  <a:srgbClr val="FFFFFF"/>
                </a:solidFill>
                <a:latin typeface="Roboto Black"/>
                <a:ea typeface="Roboto Black"/>
                <a:cs typeface="Roboto Black"/>
                <a:sym typeface="Roboto Black"/>
              </a:rPr>
              <a:t>3-4. </a:t>
            </a:r>
            <a:r>
              <a:rPr lang="en" sz="1600" u="sng" dirty="0" err="1">
                <a:solidFill>
                  <a:srgbClr val="FFFFFF"/>
                </a:solidFill>
                <a:latin typeface="Roboto Black"/>
                <a:ea typeface="Roboto Black"/>
                <a:cs typeface="Roboto Black"/>
                <a:sym typeface="Roboto Black"/>
              </a:rPr>
              <a:t>Hafta</a:t>
            </a:r>
            <a:r>
              <a:rPr lang="en" sz="1600" u="sng" dirty="0">
                <a:solidFill>
                  <a:srgbClr val="FFFFFF"/>
                </a:solidFill>
                <a:latin typeface="Roboto Black"/>
                <a:ea typeface="Roboto Black"/>
                <a:cs typeface="Roboto Black"/>
                <a:sym typeface="Roboto Black"/>
              </a:rPr>
              <a:t> (Vize Teslim </a:t>
            </a:r>
            <a:r>
              <a:rPr lang="en" sz="1600" u="sng" dirty="0" err="1">
                <a:solidFill>
                  <a:srgbClr val="FFFFFF"/>
                </a:solidFill>
                <a:latin typeface="Roboto Black"/>
                <a:ea typeface="Roboto Black"/>
                <a:cs typeface="Roboto Black"/>
                <a:sym typeface="Roboto Black"/>
              </a:rPr>
              <a:t>Aşaması</a:t>
            </a:r>
            <a:r>
              <a:rPr lang="en" sz="1600" u="sng" dirty="0">
                <a:solidFill>
                  <a:srgbClr val="FFFFFF"/>
                </a:solidFill>
                <a:latin typeface="Roboto Black"/>
                <a:ea typeface="Roboto Black"/>
                <a:cs typeface="Roboto Black"/>
                <a:sym typeface="Roboto Black"/>
              </a:rPr>
              <a:t>):</a:t>
            </a:r>
            <a:r>
              <a:rPr lang="en" dirty="0">
                <a:solidFill>
                  <a:srgbClr val="FFFFFF"/>
                </a:solidFill>
                <a:latin typeface="Roboto Black"/>
                <a:ea typeface="Roboto Black"/>
                <a:cs typeface="Roboto Black"/>
                <a:sym typeface="Roboto Black"/>
              </a:rPr>
              <a:t> Base </a:t>
            </a:r>
            <a:r>
              <a:rPr lang="en" dirty="0" err="1">
                <a:solidFill>
                  <a:srgbClr val="FFFFFF"/>
                </a:solidFill>
                <a:latin typeface="Roboto Black"/>
                <a:ea typeface="Roboto Black"/>
                <a:cs typeface="Roboto Black"/>
                <a:sym typeface="Roboto Black"/>
              </a:rPr>
              <a:t>Modellerin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Geliştirilmesi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Eğitimi</a:t>
            </a:r>
            <a:r>
              <a:rPr lang="en" dirty="0">
                <a:solidFill>
                  <a:srgbClr val="FFFFFF"/>
                </a:solidFill>
                <a:latin typeface="Roboto Black"/>
                <a:ea typeface="Roboto Black"/>
                <a:cs typeface="Roboto Black"/>
                <a:sym typeface="Roboto Black"/>
              </a:rPr>
              <a:t>. Her </a:t>
            </a:r>
            <a:r>
              <a:rPr lang="en" dirty="0" err="1">
                <a:solidFill>
                  <a:srgbClr val="FFFFFF"/>
                </a:solidFill>
                <a:latin typeface="Roboto Black"/>
                <a:ea typeface="Roboto Black"/>
                <a:cs typeface="Roboto Black"/>
                <a:sym typeface="Roboto Black"/>
              </a:rPr>
              <a:t>grup</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üyesinin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atanan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mimariyi</a:t>
            </a:r>
            <a:r>
              <a:rPr lang="en" dirty="0">
                <a:solidFill>
                  <a:srgbClr val="FFFFFF"/>
                </a:solidFill>
                <a:latin typeface="Roboto Black"/>
                <a:ea typeface="Roboto Black"/>
                <a:cs typeface="Roboto Black"/>
                <a:sym typeface="Roboto Black"/>
              </a:rPr>
              <a:t> "Feature Extraction" </a:t>
            </a:r>
            <a:r>
              <a:rPr lang="en" dirty="0" err="1">
                <a:solidFill>
                  <a:srgbClr val="FFFFFF"/>
                </a:solidFill>
                <a:latin typeface="Roboto Black"/>
                <a:ea typeface="Roboto Black"/>
                <a:cs typeface="Roboto Black"/>
                <a:sym typeface="Roboto Black"/>
              </a:rPr>
              <a:t>yöntemiyle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eğitmesi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ilk </a:t>
            </a:r>
            <a:r>
              <a:rPr lang="en" dirty="0" err="1">
                <a:solidFill>
                  <a:srgbClr val="FFFFFF"/>
                </a:solidFill>
                <a:latin typeface="Roboto Black"/>
                <a:ea typeface="Roboto Black"/>
                <a:cs typeface="Roboto Black"/>
                <a:sym typeface="Roboto Black"/>
              </a:rPr>
              <a:t>sonuçların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alınması</a:t>
            </a:r>
            <a:r>
              <a:rPr lang="en" dirty="0">
                <a:solidFill>
                  <a:srgbClr val="FFFFFF"/>
                </a:solidFill>
                <a:latin typeface="Roboto Black"/>
                <a:ea typeface="Roboto Black"/>
                <a:cs typeface="Roboto Black"/>
                <a:sym typeface="Roboto Black"/>
              </a:rPr>
              <a:t>.</a:t>
            </a:r>
            <a:endParaRPr dirty="0">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algn="ctr"/>
            <a:r>
              <a:rPr lang="en" sz="1600" u="sng" dirty="0">
                <a:solidFill>
                  <a:srgbClr val="FFFFFF"/>
                </a:solidFill>
                <a:latin typeface="Roboto Black"/>
                <a:ea typeface="Roboto Black"/>
                <a:cs typeface="Roboto Black"/>
                <a:sym typeface="Roboto Black"/>
              </a:rPr>
              <a:t>5-6. </a:t>
            </a:r>
            <a:r>
              <a:rPr lang="en" sz="1600" u="sng" err="1">
                <a:solidFill>
                  <a:srgbClr val="FFFFFF"/>
                </a:solidFill>
                <a:latin typeface="Roboto Black"/>
                <a:ea typeface="Roboto Black"/>
                <a:cs typeface="Roboto Black"/>
                <a:sym typeface="Roboto Black"/>
              </a:rPr>
              <a:t>Hafta</a:t>
            </a:r>
            <a:r>
              <a:rPr lang="en" sz="1600" u="sng" dirty="0">
                <a:solidFill>
                  <a:srgbClr val="FFFFFF"/>
                </a:solidFill>
                <a:latin typeface="Roboto Black"/>
                <a:ea typeface="Roboto Black"/>
                <a:cs typeface="Roboto Black"/>
                <a:sym typeface="Roboto Black"/>
              </a:rPr>
              <a:t>:</a:t>
            </a:r>
            <a:r>
              <a:rPr lang="en" sz="1600" dirty="0">
                <a:solidFill>
                  <a:srgbClr val="FFFFFF"/>
                </a:solidFill>
                <a:latin typeface="Roboto Black"/>
                <a:ea typeface="Roboto Black"/>
                <a:cs typeface="Roboto Black"/>
                <a:sym typeface="Roboto Black"/>
              </a:rPr>
              <a:t> </a:t>
            </a:r>
            <a:r>
              <a:rPr lang="en" dirty="0">
                <a:solidFill>
                  <a:schemeClr val="bg1"/>
                </a:solidFill>
                <a:latin typeface="Roboto Black"/>
                <a:ea typeface="Roboto Black"/>
                <a:sym typeface="Roboto Black"/>
              </a:rPr>
              <a:t>Tek </a:t>
            </a:r>
            <a:r>
              <a:rPr lang="en" err="1">
                <a:solidFill>
                  <a:schemeClr val="bg1"/>
                </a:solidFill>
                <a:latin typeface="Roboto Black"/>
                <a:ea typeface="Roboto Black"/>
                <a:sym typeface="Roboto Black"/>
              </a:rPr>
              <a:t>bir</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temel</a:t>
            </a:r>
            <a:r>
              <a:rPr lang="en" dirty="0">
                <a:solidFill>
                  <a:schemeClr val="bg1"/>
                </a:solidFill>
                <a:latin typeface="Roboto Black"/>
                <a:ea typeface="Roboto Black"/>
                <a:sym typeface="Roboto Black"/>
              </a:rPr>
              <a:t> model </a:t>
            </a:r>
            <a:r>
              <a:rPr lang="en" err="1">
                <a:solidFill>
                  <a:schemeClr val="bg1"/>
                </a:solidFill>
                <a:latin typeface="Roboto Black"/>
                <a:ea typeface="Roboto Black"/>
                <a:sym typeface="Roboto Black"/>
              </a:rPr>
              <a:t>yerine</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en</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yüksek</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doğruluğu</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elde</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etmek</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amacıyla</a:t>
            </a:r>
            <a:r>
              <a:rPr lang="en" dirty="0">
                <a:solidFill>
                  <a:schemeClr val="bg1"/>
                </a:solidFill>
                <a:latin typeface="Roboto Black"/>
                <a:ea typeface="Roboto Black"/>
                <a:sym typeface="Roboto Black"/>
              </a:rPr>
              <a:t> 10 </a:t>
            </a:r>
            <a:r>
              <a:rPr lang="en" err="1">
                <a:solidFill>
                  <a:schemeClr val="bg1"/>
                </a:solidFill>
                <a:latin typeface="Roboto Black"/>
                <a:ea typeface="Roboto Black"/>
                <a:sym typeface="Roboto Black"/>
              </a:rPr>
              <a:t>farklı</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gelişmiş</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derin</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öğrenme</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mimarisini</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ResNet</a:t>
            </a:r>
            <a:r>
              <a:rPr lang="en" dirty="0">
                <a:solidFill>
                  <a:schemeClr val="bg1"/>
                </a:solidFill>
                <a:latin typeface="Roboto Black"/>
                <a:ea typeface="Roboto Black"/>
                <a:sym typeface="Roboto Black"/>
              </a:rPr>
              <a:t>, VGG, Inception vb.) </a:t>
            </a:r>
            <a:r>
              <a:rPr lang="en" err="1">
                <a:solidFill>
                  <a:schemeClr val="bg1"/>
                </a:solidFill>
                <a:latin typeface="Roboto Black"/>
                <a:ea typeface="Roboto Black"/>
                <a:sym typeface="Roboto Black"/>
              </a:rPr>
              <a:t>eğittik</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ve</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performanslarını</a:t>
            </a:r>
            <a:r>
              <a:rPr lang="en" dirty="0">
                <a:solidFill>
                  <a:schemeClr val="bg1"/>
                </a:solidFill>
                <a:latin typeface="Roboto Black"/>
                <a:ea typeface="Roboto Black"/>
                <a:sym typeface="Roboto Black"/>
              </a:rPr>
              <a:t> </a:t>
            </a:r>
            <a:r>
              <a:rPr lang="en" err="1">
                <a:solidFill>
                  <a:schemeClr val="bg1"/>
                </a:solidFill>
                <a:latin typeface="Roboto Black"/>
                <a:ea typeface="Roboto Black"/>
                <a:sym typeface="Roboto Black"/>
              </a:rPr>
              <a:t>karşılaştırdık</a:t>
            </a:r>
            <a:r>
              <a:rPr lang="en" dirty="0">
                <a:solidFill>
                  <a:schemeClr val="bg1"/>
                </a:solidFill>
                <a:latin typeface="Roboto Black"/>
                <a:ea typeface="Roboto Black"/>
                <a:sym typeface="Roboto Black"/>
              </a:rPr>
              <a:t>.</a:t>
            </a:r>
            <a:r>
              <a:rPr lang="en" dirty="0">
                <a:solidFill>
                  <a:srgbClr val="FFFFFF"/>
                </a:solidFill>
                <a:latin typeface="Roboto Black"/>
                <a:ea typeface="Roboto Black"/>
                <a:cs typeface="Roboto Black"/>
                <a:sym typeface="Roboto Black"/>
              </a:rPr>
              <a:t> </a:t>
            </a:r>
            <a:r>
              <a:rPr lang="en" err="1">
                <a:solidFill>
                  <a:srgbClr val="FFFFFF"/>
                </a:solidFill>
                <a:latin typeface="Roboto Black"/>
                <a:ea typeface="Roboto Black"/>
                <a:cs typeface="Roboto Black"/>
                <a:sym typeface="Roboto Black"/>
              </a:rPr>
              <a:t>Herkesin</a:t>
            </a:r>
            <a:r>
              <a:rPr lang="en" dirty="0">
                <a:solidFill>
                  <a:srgbClr val="FFFFFF"/>
                </a:solidFill>
                <a:latin typeface="Roboto Black"/>
                <a:ea typeface="Roboto Black"/>
                <a:cs typeface="Roboto Black"/>
                <a:sym typeface="Roboto Black"/>
              </a:rPr>
              <a:t> </a:t>
            </a:r>
            <a:r>
              <a:rPr lang="en" err="1">
                <a:solidFill>
                  <a:srgbClr val="FFFFFF"/>
                </a:solidFill>
                <a:latin typeface="Roboto Black"/>
                <a:ea typeface="Roboto Black"/>
                <a:cs typeface="Roboto Black"/>
                <a:sym typeface="Roboto Black"/>
              </a:rPr>
              <a:t>kendi</a:t>
            </a:r>
            <a:r>
              <a:rPr lang="en" dirty="0">
                <a:solidFill>
                  <a:srgbClr val="FFFFFF"/>
                </a:solidFill>
                <a:latin typeface="Roboto Black"/>
                <a:ea typeface="Roboto Black"/>
                <a:cs typeface="Roboto Black"/>
                <a:sym typeface="Roboto Black"/>
              </a:rPr>
              <a:t> </a:t>
            </a:r>
            <a:r>
              <a:rPr lang="en" err="1">
                <a:solidFill>
                  <a:srgbClr val="FFFFFF"/>
                </a:solidFill>
                <a:latin typeface="Roboto Black"/>
                <a:ea typeface="Roboto Black"/>
                <a:cs typeface="Roboto Black"/>
                <a:sym typeface="Roboto Black"/>
              </a:rPr>
              <a:t>kullandığı</a:t>
            </a:r>
            <a:r>
              <a:rPr lang="en" dirty="0">
                <a:solidFill>
                  <a:srgbClr val="FFFFFF"/>
                </a:solidFill>
                <a:latin typeface="Roboto Black"/>
                <a:ea typeface="Roboto Black"/>
                <a:cs typeface="Roboto Black"/>
                <a:sym typeface="Roboto Black"/>
              </a:rPr>
              <a:t> model </a:t>
            </a:r>
            <a:r>
              <a:rPr lang="en" err="1">
                <a:solidFill>
                  <a:srgbClr val="FFFFFF"/>
                </a:solidFill>
                <a:latin typeface="Roboto Black"/>
                <a:ea typeface="Roboto Black"/>
                <a:cs typeface="Roboto Black"/>
                <a:sym typeface="Roboto Black"/>
              </a:rPr>
              <a:t>üzerinde</a:t>
            </a:r>
            <a:r>
              <a:rPr lang="en" dirty="0">
                <a:solidFill>
                  <a:srgbClr val="FFFFFF"/>
                </a:solidFill>
                <a:latin typeface="Roboto Black"/>
                <a:ea typeface="Roboto Black"/>
                <a:cs typeface="Roboto Black"/>
                <a:sym typeface="Roboto Black"/>
              </a:rPr>
              <a:t> "Fine-T</a:t>
            </a:r>
            <a:r>
              <a:rPr lang="en" dirty="0">
                <a:solidFill>
                  <a:schemeClr val="bg1"/>
                </a:solidFill>
                <a:latin typeface="Roboto Black"/>
                <a:ea typeface="Roboto Black"/>
                <a:cs typeface="Roboto Black"/>
                <a:sym typeface="Roboto Black"/>
              </a:rPr>
              <a:t>uning" </a:t>
            </a:r>
            <a:r>
              <a:rPr lang="en" err="1">
                <a:solidFill>
                  <a:schemeClr val="bg1"/>
                </a:solidFill>
                <a:latin typeface="Roboto Black"/>
                <a:ea typeface="Roboto Black"/>
                <a:cs typeface="Roboto Black"/>
                <a:sym typeface="Roboto Black"/>
              </a:rPr>
              <a:t>yapılması</a:t>
            </a:r>
            <a:r>
              <a:rPr lang="en" dirty="0">
                <a:solidFill>
                  <a:schemeClr val="bg1"/>
                </a:solidFill>
                <a:latin typeface="Roboto Black"/>
                <a:ea typeface="Roboto Black"/>
                <a:cs typeface="Roboto Black"/>
                <a:sym typeface="Roboto Black"/>
              </a:rPr>
              <a:t> </a:t>
            </a:r>
            <a:r>
              <a:rPr lang="en" err="1">
                <a:solidFill>
                  <a:schemeClr val="bg1"/>
                </a:solidFill>
                <a:latin typeface="Roboto Black"/>
                <a:ea typeface="Roboto Black"/>
                <a:cs typeface="Roboto Black"/>
                <a:sym typeface="Roboto Black"/>
              </a:rPr>
              <a:t>ve</a:t>
            </a:r>
            <a:r>
              <a:rPr lang="en" dirty="0">
                <a:solidFill>
                  <a:schemeClr val="bg1"/>
                </a:solidFill>
                <a:latin typeface="Roboto Black"/>
                <a:ea typeface="Roboto Black"/>
                <a:cs typeface="Roboto Black"/>
                <a:sym typeface="Roboto Black"/>
              </a:rPr>
              <a:t> Veri </a:t>
            </a:r>
            <a:r>
              <a:rPr lang="en" err="1">
                <a:solidFill>
                  <a:schemeClr val="bg1"/>
                </a:solidFill>
                <a:latin typeface="Roboto Black"/>
                <a:ea typeface="Roboto Black"/>
                <a:cs typeface="Roboto Black"/>
                <a:sym typeface="Roboto Black"/>
              </a:rPr>
              <a:t>Artırm</a:t>
            </a:r>
            <a:r>
              <a:rPr lang="en" err="1">
                <a:solidFill>
                  <a:srgbClr val="FFFFFF"/>
                </a:solidFill>
                <a:latin typeface="Roboto Black"/>
                <a:ea typeface="Roboto Black"/>
                <a:cs typeface="Roboto Black"/>
                <a:sym typeface="Roboto Black"/>
              </a:rPr>
              <a:t>a</a:t>
            </a:r>
            <a:r>
              <a:rPr lang="en" dirty="0">
                <a:solidFill>
                  <a:srgbClr val="FFFFFF"/>
                </a:solidFill>
                <a:latin typeface="Roboto Black"/>
                <a:ea typeface="Roboto Black"/>
                <a:cs typeface="Roboto Black"/>
                <a:sym typeface="Roboto Black"/>
              </a:rPr>
              <a:t> </a:t>
            </a:r>
            <a:r>
              <a:rPr lang="en" err="1">
                <a:solidFill>
                  <a:srgbClr val="FFFFFF"/>
                </a:solidFill>
                <a:latin typeface="Roboto Black"/>
                <a:ea typeface="Roboto Black"/>
                <a:cs typeface="Roboto Black"/>
                <a:sym typeface="Roboto Black"/>
              </a:rPr>
              <a:t>tekniklerinin</a:t>
            </a:r>
            <a:r>
              <a:rPr lang="en" dirty="0">
                <a:solidFill>
                  <a:srgbClr val="FFFFFF"/>
                </a:solidFill>
                <a:latin typeface="Roboto Black"/>
                <a:ea typeface="Roboto Black"/>
                <a:cs typeface="Roboto Black"/>
                <a:sym typeface="Roboto Black"/>
              </a:rPr>
              <a:t> </a:t>
            </a:r>
            <a:r>
              <a:rPr lang="en" err="1">
                <a:solidFill>
                  <a:srgbClr val="FFFFFF"/>
                </a:solidFill>
                <a:latin typeface="Roboto Black"/>
                <a:ea typeface="Roboto Black"/>
                <a:cs typeface="Roboto Black"/>
                <a:sym typeface="Roboto Black"/>
              </a:rPr>
              <a:t>uygulanması</a:t>
            </a:r>
            <a:r>
              <a:rPr lang="en" dirty="0">
                <a:solidFill>
                  <a:srgbClr val="FFFFFF"/>
                </a:solidFill>
                <a:latin typeface="Roboto Black"/>
                <a:ea typeface="Roboto Black"/>
                <a:cs typeface="Roboto Black"/>
                <a:sym typeface="Roboto Black"/>
              </a:rPr>
              <a:t>.</a:t>
            </a:r>
            <a:endParaRPr dirty="0">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600" u="sng" dirty="0">
                <a:solidFill>
                  <a:srgbClr val="FFFFFF"/>
                </a:solidFill>
                <a:latin typeface="Roboto Black"/>
                <a:ea typeface="Roboto Black"/>
                <a:cs typeface="Roboto Black"/>
                <a:sym typeface="Roboto Black"/>
              </a:rPr>
              <a:t>7. </a:t>
            </a:r>
            <a:r>
              <a:rPr lang="en" sz="1600" u="sng" dirty="0" err="1">
                <a:solidFill>
                  <a:srgbClr val="FFFFFF"/>
                </a:solidFill>
                <a:latin typeface="Roboto Black"/>
                <a:ea typeface="Roboto Black"/>
                <a:cs typeface="Roboto Black"/>
                <a:sym typeface="Roboto Black"/>
              </a:rPr>
              <a:t>Hafta</a:t>
            </a:r>
            <a:r>
              <a:rPr lang="en" sz="1600" u="sng" dirty="0">
                <a:solidFill>
                  <a:srgbClr val="FFFFFF"/>
                </a:solidFill>
                <a:latin typeface="Roboto Black"/>
                <a:ea typeface="Roboto Black"/>
                <a:cs typeface="Roboto Black"/>
                <a:sym typeface="Roboto Black"/>
              </a:rPr>
              <a:t>:</a:t>
            </a:r>
            <a:r>
              <a:rPr lang="en" sz="1600"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Sistem</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Entegrasyonu</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Performans</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Analizi</a:t>
            </a:r>
            <a:r>
              <a:rPr lang="en" dirty="0">
                <a:solidFill>
                  <a:srgbClr val="FFFFFF"/>
                </a:solidFill>
                <a:latin typeface="Roboto Black"/>
                <a:ea typeface="Roboto Black"/>
                <a:cs typeface="Roboto Black"/>
                <a:sym typeface="Roboto Black"/>
              </a:rPr>
              <a:t>. Duygu </a:t>
            </a:r>
            <a:r>
              <a:rPr lang="en" dirty="0" err="1">
                <a:solidFill>
                  <a:srgbClr val="FFFFFF"/>
                </a:solidFill>
                <a:latin typeface="Roboto Black"/>
                <a:ea typeface="Roboto Black"/>
                <a:cs typeface="Roboto Black"/>
                <a:sym typeface="Roboto Black"/>
              </a:rPr>
              <a:t>tespit</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modelinin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çıktısının</a:t>
            </a:r>
            <a:r>
              <a:rPr lang="en" dirty="0">
                <a:solidFill>
                  <a:srgbClr val="FFFFFF"/>
                </a:solidFill>
                <a:latin typeface="Roboto Black"/>
                <a:ea typeface="Roboto Black"/>
                <a:cs typeface="Roboto Black"/>
                <a:sym typeface="Roboto Black"/>
              </a:rPr>
              <a:t> film </a:t>
            </a:r>
            <a:r>
              <a:rPr lang="en" dirty="0" err="1">
                <a:solidFill>
                  <a:srgbClr val="FFFFFF"/>
                </a:solidFill>
                <a:latin typeface="Roboto Black"/>
                <a:ea typeface="Roboto Black"/>
                <a:cs typeface="Roboto Black"/>
                <a:sym typeface="Roboto Black"/>
              </a:rPr>
              <a:t>öneri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algoritmasına</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bağlanması</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Nihai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testlerin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yapılması</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detaylı</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değerlendirilmesi</a:t>
            </a:r>
            <a:endParaRPr dirty="0" err="1">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600" u="sng" dirty="0">
                <a:solidFill>
                  <a:srgbClr val="FFFFFF"/>
                </a:solidFill>
                <a:latin typeface="Roboto Black"/>
                <a:ea typeface="Roboto Black"/>
                <a:cs typeface="Roboto Black"/>
                <a:sym typeface="Roboto Black"/>
              </a:rPr>
              <a:t>8. </a:t>
            </a:r>
            <a:r>
              <a:rPr lang="en" sz="1600" u="sng" dirty="0" err="1">
                <a:solidFill>
                  <a:srgbClr val="FFFFFF"/>
                </a:solidFill>
                <a:latin typeface="Roboto Black"/>
                <a:ea typeface="Roboto Black"/>
                <a:cs typeface="Roboto Black"/>
                <a:sym typeface="Roboto Black"/>
              </a:rPr>
              <a:t>Hafta</a:t>
            </a:r>
            <a:r>
              <a:rPr lang="en" sz="1600" u="sng" dirty="0">
                <a:solidFill>
                  <a:srgbClr val="FFFFFF"/>
                </a:solidFill>
                <a:latin typeface="Roboto Black"/>
                <a:ea typeface="Roboto Black"/>
                <a:cs typeface="Roboto Black"/>
                <a:sym typeface="Roboto Black"/>
              </a:rPr>
              <a:t>:</a:t>
            </a:r>
            <a:r>
              <a:rPr lang="en" sz="1600"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Proje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raporunun</a:t>
            </a:r>
            <a:r>
              <a:rPr lang="en" dirty="0">
                <a:solidFill>
                  <a:srgbClr val="FFFFFF"/>
                </a:solidFill>
                <a:latin typeface="Roboto Black"/>
                <a:ea typeface="Roboto Black"/>
                <a:cs typeface="Roboto Black"/>
                <a:sym typeface="Roboto Black"/>
              </a:rPr>
              <a:t> son </a:t>
            </a:r>
            <a:r>
              <a:rPr lang="en" dirty="0" err="1">
                <a:solidFill>
                  <a:srgbClr val="FFFFFF"/>
                </a:solidFill>
                <a:latin typeface="Roboto Black"/>
                <a:ea typeface="Roboto Black"/>
                <a:cs typeface="Roboto Black"/>
                <a:sym typeface="Roboto Black"/>
              </a:rPr>
              <a:t>halinin</a:t>
            </a:r>
            <a:r>
              <a:rPr lang="en" dirty="0">
                <a:solidFill>
                  <a:srgbClr val="FFFFFF"/>
                </a:solidFill>
                <a:latin typeface="Roboto Black"/>
                <a:ea typeface="Roboto Black"/>
                <a:cs typeface="Roboto Black"/>
                <a:sym typeface="Roboto Black"/>
              </a:rPr>
              <a:t> (PDF) </a:t>
            </a:r>
            <a:r>
              <a:rPr lang="en" dirty="0" err="1">
                <a:solidFill>
                  <a:srgbClr val="FFFFFF"/>
                </a:solidFill>
                <a:latin typeface="Roboto Black"/>
                <a:ea typeface="Roboto Black"/>
                <a:cs typeface="Roboto Black"/>
                <a:sym typeface="Roboto Black"/>
              </a:rPr>
              <a:t>yazılması</a:t>
            </a:r>
            <a:r>
              <a:rPr lang="en" dirty="0">
                <a:solidFill>
                  <a:srgbClr val="FFFFFF"/>
                </a:solidFill>
                <a:latin typeface="Roboto Black"/>
                <a:ea typeface="Roboto Black"/>
                <a:cs typeface="Roboto Black"/>
                <a:sym typeface="Roboto Black"/>
              </a:rPr>
              <a:t>, GitHub </a:t>
            </a:r>
            <a:r>
              <a:rPr lang="en" dirty="0" err="1">
                <a:solidFill>
                  <a:srgbClr val="FFFFFF"/>
                </a:solidFill>
                <a:latin typeface="Roboto Black"/>
                <a:ea typeface="Roboto Black"/>
                <a:cs typeface="Roboto Black"/>
                <a:sym typeface="Roboto Black"/>
              </a:rPr>
              <a:t>deposunun</a:t>
            </a:r>
            <a:r>
              <a:rPr lang="en" dirty="0">
                <a:solidFill>
                  <a:srgbClr val="FFFFFF"/>
                </a:solidFill>
                <a:latin typeface="Roboto Black"/>
                <a:ea typeface="Roboto Black"/>
                <a:cs typeface="Roboto Black"/>
                <a:sym typeface="Roboto Black"/>
              </a:rPr>
              <a:t> son </a:t>
            </a:r>
            <a:r>
              <a:rPr lang="en" dirty="0" err="1">
                <a:solidFill>
                  <a:srgbClr val="FFFFFF"/>
                </a:solidFill>
                <a:latin typeface="Roboto Black"/>
                <a:ea typeface="Roboto Black"/>
                <a:cs typeface="Roboto Black"/>
                <a:sym typeface="Roboto Black"/>
              </a:rPr>
              <a:t>düzenlemeleri</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ve</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sunum</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materyalinin</a:t>
            </a:r>
            <a:r>
              <a:rPr lang="en" dirty="0">
                <a:solidFill>
                  <a:srgbClr val="FFFFFF"/>
                </a:solidFill>
                <a:latin typeface="Roboto Black"/>
                <a:ea typeface="Roboto Black"/>
                <a:cs typeface="Roboto Black"/>
                <a:sym typeface="Roboto Black"/>
              </a:rPr>
              <a:t> </a:t>
            </a:r>
            <a:r>
              <a:rPr lang="en" dirty="0" err="1">
                <a:solidFill>
                  <a:srgbClr val="FFFFFF"/>
                </a:solidFill>
                <a:latin typeface="Roboto Black"/>
                <a:ea typeface="Roboto Black"/>
                <a:cs typeface="Roboto Black"/>
                <a:sym typeface="Roboto Black"/>
              </a:rPr>
              <a:t>oluşturulması</a:t>
            </a:r>
            <a:r>
              <a:rPr lang="en" dirty="0">
                <a:solidFill>
                  <a:srgbClr val="FFFFFF"/>
                </a:solidFill>
                <a:latin typeface="Roboto Black"/>
                <a:ea typeface="Roboto Black"/>
                <a:cs typeface="Roboto Black"/>
                <a:sym typeface="Roboto Black"/>
              </a:rPr>
              <a:t>.</a:t>
            </a:r>
            <a:endParaRPr dirty="0">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95" name="Google Shape;95;p17"/>
          <p:cNvSpPr txBox="1"/>
          <p:nvPr/>
        </p:nvSpPr>
        <p:spPr>
          <a:xfrm>
            <a:off x="-25475" y="19925"/>
            <a:ext cx="9207900" cy="1134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Veri Açıklaması ve Yönetimi</a:t>
            </a:r>
            <a:endParaRPr sz="4000">
              <a:solidFill>
                <a:srgbClr val="FFFFFF"/>
              </a:solidFill>
              <a:latin typeface="Roboto Black"/>
              <a:ea typeface="Roboto Black"/>
              <a:cs typeface="Roboto Black"/>
              <a:sym typeface="Roboto Black"/>
            </a:endParaRPr>
          </a:p>
        </p:txBody>
      </p:sp>
      <p:sp>
        <p:nvSpPr>
          <p:cNvPr id="96" name="Google Shape;96;p17"/>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97" name="Google Shape;97;p17"/>
          <p:cNvSpPr txBox="1"/>
          <p:nvPr/>
        </p:nvSpPr>
        <p:spPr>
          <a:xfrm>
            <a:off x="-12725" y="946925"/>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FFFFFF"/>
                </a:solidFill>
                <a:latin typeface="Roboto Black"/>
                <a:ea typeface="Roboto Black"/>
                <a:cs typeface="Roboto Black"/>
                <a:sym typeface="Roboto Black"/>
              </a:rPr>
              <a:t>Veri Kümesi Açıklaması</a:t>
            </a:r>
            <a:endParaRPr sz="18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FER-2013 (Kaggle):</a:t>
            </a:r>
            <a:r>
              <a:rPr lang="en">
                <a:solidFill>
                  <a:srgbClr val="FFFFFF"/>
                </a:solidFill>
                <a:latin typeface="Roboto Black"/>
                <a:ea typeface="Roboto Black"/>
                <a:cs typeface="Roboto Black"/>
                <a:sym typeface="Roboto Black"/>
              </a:rPr>
              <a:t> Yüz ifadelerini içeren, 48x48 piksel boyutunda gri tonlamalı görüntülerden oluşur.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IMDB Movies (Kaggle):</a:t>
            </a:r>
            <a:r>
              <a:rPr lang="en">
                <a:solidFill>
                  <a:srgbClr val="FFFFFF"/>
                </a:solidFill>
                <a:latin typeface="Roboto Black"/>
                <a:ea typeface="Roboto Black"/>
                <a:cs typeface="Roboto Black"/>
                <a:sym typeface="Roboto Black"/>
              </a:rPr>
              <a:t> En yüksek puanlı 1000 film ve diziye ait meta verileri (tür, yönetmen, oyuncular, özet) içerir.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12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800">
                <a:solidFill>
                  <a:srgbClr val="FFFFFF"/>
                </a:solidFill>
                <a:latin typeface="Roboto Black"/>
                <a:ea typeface="Roboto Black"/>
                <a:cs typeface="Roboto Black"/>
                <a:sym typeface="Roboto Black"/>
              </a:rPr>
              <a:t>Şema ve Boyut (FER-2013):</a:t>
            </a:r>
            <a:endParaRPr sz="18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u="sng">
                <a:solidFill>
                  <a:srgbClr val="FFFFFF"/>
                </a:solidFill>
                <a:latin typeface="Roboto Black"/>
                <a:ea typeface="Roboto Black"/>
                <a:cs typeface="Roboto Black"/>
                <a:sym typeface="Roboto Black"/>
              </a:rPr>
              <a:t>Boyut:</a:t>
            </a:r>
            <a:r>
              <a:rPr lang="en">
                <a:solidFill>
                  <a:srgbClr val="FFFFFF"/>
                </a:solidFill>
                <a:latin typeface="Roboto Black"/>
                <a:ea typeface="Roboto Black"/>
                <a:cs typeface="Roboto Black"/>
                <a:sym typeface="Roboto Black"/>
              </a:rPr>
              <a:t> Eğitim seti ~28.000, Test seti ~7.000 görüntü.</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u="sng">
                <a:solidFill>
                  <a:srgbClr val="FFFFFF"/>
                </a:solidFill>
                <a:latin typeface="Roboto Black"/>
                <a:ea typeface="Roboto Black"/>
                <a:cs typeface="Roboto Black"/>
                <a:sym typeface="Roboto Black"/>
              </a:rPr>
              <a:t>Sınıflar:</a:t>
            </a:r>
            <a:r>
              <a:rPr lang="en">
                <a:solidFill>
                  <a:srgbClr val="FFFFFF"/>
                </a:solidFill>
                <a:latin typeface="Roboto Black"/>
                <a:ea typeface="Roboto Black"/>
                <a:cs typeface="Roboto Black"/>
                <a:sym typeface="Roboto Black"/>
              </a:rPr>
              <a:t> 0=Angry, 1=Disgust, 2=Fear, 3=Happy, 4=Sad, 5=Surprise, 6=Neutral.</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u="sng">
                <a:solidFill>
                  <a:srgbClr val="FFFFFF"/>
                </a:solidFill>
                <a:latin typeface="Roboto Black"/>
                <a:ea typeface="Roboto Black"/>
                <a:cs typeface="Roboto Black"/>
                <a:sym typeface="Roboto Black"/>
              </a:rPr>
              <a:t>IMDB:</a:t>
            </a:r>
            <a:r>
              <a:rPr lang="en">
                <a:solidFill>
                  <a:srgbClr val="FFFFFF"/>
                </a:solidFill>
                <a:latin typeface="Roboto Black"/>
                <a:ea typeface="Roboto Black"/>
                <a:cs typeface="Roboto Black"/>
                <a:sym typeface="Roboto Black"/>
              </a:rPr>
              <a:t> 1000 satır, 16 sütun (Series_Title, Genre, IMDB_Rating vb.).</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1200">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sz="12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800">
                <a:solidFill>
                  <a:srgbClr val="FFFFFF"/>
                </a:solidFill>
                <a:latin typeface="Roboto Black"/>
                <a:ea typeface="Roboto Black"/>
                <a:cs typeface="Roboto Black"/>
                <a:sym typeface="Roboto Black"/>
              </a:rPr>
              <a:t>Etik, Gizlilik, Önyargı:</a:t>
            </a:r>
            <a:endParaRPr sz="18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FER-2013 veri setindeki yüzler, büyük görsellerden otomatik olarak kırpılmış, ve gri tonlamaya çevrilmiştir. Bu işlem, kişilerin biyometrik olarak tam kimlik tespitini zorlaştırdığı için gizlilik ihlali riskini minimize etmektedir. Veri seti, halka açık akademik bir kıyaslama setidir.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sz="1200">
              <a:solidFill>
                <a:srgbClr val="FFFFFF"/>
              </a:solidFill>
              <a:latin typeface="Roboto Black"/>
              <a:ea typeface="Roboto Black"/>
              <a:cs typeface="Roboto Black"/>
              <a:sym typeface="Roboto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8"/>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03" name="Google Shape;103;p18"/>
          <p:cNvSpPr txBox="1"/>
          <p:nvPr/>
        </p:nvSpPr>
        <p:spPr>
          <a:xfrm>
            <a:off x="-25475" y="19925"/>
            <a:ext cx="9207900" cy="793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Yöntemler ve Mimari</a:t>
            </a:r>
            <a:endParaRPr sz="4000">
              <a:solidFill>
                <a:srgbClr val="FFFFFF"/>
              </a:solidFill>
              <a:latin typeface="Roboto Black"/>
              <a:ea typeface="Roboto Black"/>
              <a:cs typeface="Roboto Black"/>
              <a:sym typeface="Roboto Black"/>
            </a:endParaRPr>
          </a:p>
        </p:txBody>
      </p:sp>
      <p:sp>
        <p:nvSpPr>
          <p:cNvPr id="104" name="Google Shape;104;p18"/>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05" name="Google Shape;105;p18"/>
          <p:cNvSpPr txBox="1"/>
          <p:nvPr/>
        </p:nvSpPr>
        <p:spPr>
          <a:xfrm>
            <a:off x="-12725" y="7437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Faz I (Base Model):</a:t>
            </a:r>
            <a:r>
              <a:rPr lang="en">
                <a:solidFill>
                  <a:srgbClr val="FFFFFF"/>
                </a:solidFill>
                <a:latin typeface="Roboto Black"/>
                <a:ea typeface="Roboto Black"/>
                <a:cs typeface="Roboto Black"/>
                <a:sym typeface="Roboto Black"/>
              </a:rPr>
              <a:t> 5 farklı mimari (Custom CNN, ResNet, GoogLeNet, MobileNet, DenseNet), ImageNet ağırlıkları dondurularak hızlıca test edilir ve potansiyelleri ölçülür.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Faz II (Final Architecture):</a:t>
            </a:r>
            <a:r>
              <a:rPr lang="en">
                <a:solidFill>
                  <a:srgbClr val="FFFFFF"/>
                </a:solidFill>
                <a:latin typeface="Roboto Black"/>
                <a:ea typeface="Roboto Black"/>
                <a:cs typeface="Roboto Black"/>
                <a:sym typeface="Roboto Black"/>
              </a:rPr>
              <a:t> İlk fazdaki modellerin ağırlıklarını eğitmek yerine; elde edilen veriler doğrultusunda bu modellerden daha üstün performans gösteren alternatif mimariler tercih edilmiştir. Final model, bu üstün mimariler arasından seçilerek oluşturulmuştur.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800">
                <a:solidFill>
                  <a:srgbClr val="FFFFFF"/>
                </a:solidFill>
                <a:latin typeface="Roboto Black"/>
                <a:ea typeface="Roboto Black"/>
                <a:cs typeface="Roboto Black"/>
                <a:sym typeface="Roboto Black"/>
              </a:rPr>
              <a:t>Veri Ön İşleme ve Eğitim Süreci:</a:t>
            </a:r>
            <a:endParaRPr sz="18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Görüntü Formatı:</a:t>
            </a:r>
            <a:r>
              <a:rPr lang="en">
                <a:solidFill>
                  <a:srgbClr val="FFFFFF"/>
                </a:solidFill>
                <a:latin typeface="Roboto Black"/>
                <a:ea typeface="Roboto Black"/>
                <a:cs typeface="Roboto Black"/>
                <a:sym typeface="Roboto Black"/>
              </a:rPr>
              <a:t> Tüm FER-2013 görüntüleri 48 x 48 piksel boyutunda, tek kanal (Grayscale) olarak hazırlanır ve [0, 1] aralığına normalize edilir.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Veri Artırma:</a:t>
            </a:r>
            <a:r>
              <a:rPr lang="en">
                <a:solidFill>
                  <a:srgbClr val="FFFFFF"/>
                </a:solidFill>
                <a:latin typeface="Roboto Black"/>
                <a:ea typeface="Roboto Black"/>
                <a:cs typeface="Roboto Black"/>
                <a:sym typeface="Roboto Black"/>
              </a:rPr>
              <a:t> Final Model aşamasında, döndürme ve kaydırma gibi teknikler uygulanarak 5 modelin de genelleme yeteneği artırılır.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u="sng">
                <a:solidFill>
                  <a:srgbClr val="FFFFFF"/>
                </a:solidFill>
                <a:latin typeface="Roboto Black"/>
                <a:ea typeface="Roboto Black"/>
                <a:cs typeface="Roboto Black"/>
                <a:sym typeface="Roboto Black"/>
              </a:rPr>
              <a:t>Kayıp Fonksiyonu:</a:t>
            </a:r>
            <a:r>
              <a:rPr lang="en">
                <a:solidFill>
                  <a:srgbClr val="FFFFFF"/>
                </a:solidFill>
                <a:latin typeface="Roboto Black"/>
                <a:ea typeface="Roboto Black"/>
                <a:cs typeface="Roboto Black"/>
                <a:sym typeface="Roboto Black"/>
              </a:rPr>
              <a:t> 7 sınıflı sınıflandırma için Çapraz Entropi Kaybı ve veri dengesizliği nedeniyle sınıf ağırlıklandırması kullanılacaktır.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u="sng">
                <a:solidFill>
                  <a:srgbClr val="FFFFFF"/>
                </a:solidFill>
                <a:latin typeface="Roboto Black"/>
                <a:ea typeface="Roboto Black"/>
                <a:cs typeface="Roboto Black"/>
                <a:sym typeface="Roboto Black"/>
              </a:rPr>
              <a:t>Optimizasyon:</a:t>
            </a:r>
            <a:r>
              <a:rPr lang="en">
                <a:solidFill>
                  <a:srgbClr val="FFFFFF"/>
                </a:solidFill>
                <a:latin typeface="Roboto Black"/>
                <a:ea typeface="Roboto Black"/>
                <a:cs typeface="Roboto Black"/>
                <a:sym typeface="Roboto Black"/>
              </a:rPr>
              <a:t> Yüksek eğitim verimliliği için Adam optimizerı temel alınır. Final Modelde çok düşük Öğrenme Hızları (10^{-4} ve altı) kullanılacak ve Erken Durdurma mekanizması uygulanacaktır.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9"/>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11" name="Google Shape;111;p19"/>
          <p:cNvSpPr txBox="1"/>
          <p:nvPr/>
        </p:nvSpPr>
        <p:spPr>
          <a:xfrm>
            <a:off x="-25475" y="19925"/>
            <a:ext cx="9207900" cy="793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Mert Ali Kızılkaya</a:t>
            </a:r>
            <a:endParaRPr sz="4000">
              <a:solidFill>
                <a:srgbClr val="FFFFFF"/>
              </a:solidFill>
              <a:latin typeface="Roboto Black"/>
              <a:ea typeface="Roboto Black"/>
              <a:cs typeface="Roboto Black"/>
              <a:sym typeface="Roboto Black"/>
            </a:endParaRPr>
          </a:p>
        </p:txBody>
      </p:sp>
      <p:sp>
        <p:nvSpPr>
          <p:cNvPr id="112" name="Google Shape;112;p19"/>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13" name="Google Shape;113;p19"/>
          <p:cNvSpPr txBox="1"/>
          <p:nvPr/>
        </p:nvSpPr>
        <p:spPr>
          <a:xfrm>
            <a:off x="-12725" y="7437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VGG19:</a:t>
            </a:r>
            <a:r>
              <a:rPr lang="en" sz="1800">
                <a:solidFill>
                  <a:srgbClr val="FFFFFF"/>
                </a:solidFill>
                <a:latin typeface="Roboto Black"/>
                <a:ea typeface="Roboto Black"/>
                <a:cs typeface="Roboto Black"/>
                <a:sym typeface="Roboto Black"/>
              </a:rPr>
              <a:t> </a:t>
            </a:r>
            <a:endParaRPr sz="18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19 katmanlı derin bir yapıya sahip olan bu model, 3x3'lük küçük filtrelerin ardışık kullanımıyla görüntüdeki karmaşık öznitelikleri öğrenir.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Derin öğrenme literatüründe bir standart olarak kabul edilir ve mimari sadeliğiyle bilinir.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VGG19 modelinde hiperparametre optimizasyonu için manuel arama yöntemi tercih edilmiştir.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224x224 giriş çözünürlüğü, RandomHorizontalFlip ve RandomRotation veri artırma teknikleri, 1x10^-3 öğrenme oranı, 32 yığın boyutu (batch size) ve Adam optimizasyon algoritması kullanılarak 10 epoch boyunca eğitilmiş ve %67.51 doğruluk oranına ulaşmıştır.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ResNeXt-50:</a:t>
            </a:r>
            <a:r>
              <a:rPr lang="en" sz="1800">
                <a:solidFill>
                  <a:srgbClr val="FFFFFF"/>
                </a:solidFill>
                <a:latin typeface="Roboto Black"/>
                <a:ea typeface="Roboto Black"/>
                <a:cs typeface="Roboto Black"/>
                <a:sym typeface="Roboto Black"/>
              </a:rPr>
              <a:t> </a:t>
            </a:r>
            <a:endParaRPr sz="18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ResNet mimarisinin geliştirilmiş bir versiyonudur.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Standart derinlik artışı yerine "Cardinality" adı verilen yeni bir boyut ekleyerek, veriyi paralel yollarda işler.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Bu sayede model parametre sayısı aşırı artmadan öğrenme kapasitesi yükseltilmiştir.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224x224 giriş çözünürlüğü ve ImageNet standartlarında veri artırma teknikleri ile 1x10^-3 öğrenme oranı ve 32 yığın boyutu eşliğinde 10 epoch boyunca eğitilerek projenin, en yüksek başarısı olan %69.14 doğruluk oranını elde etmiştir.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20"/>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19" name="Google Shape;119;p20"/>
          <p:cNvSpPr txBox="1"/>
          <p:nvPr/>
        </p:nvSpPr>
        <p:spPr>
          <a:xfrm>
            <a:off x="-25475" y="19925"/>
            <a:ext cx="9207900" cy="793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Yiğit Ali Çolakoğlu</a:t>
            </a:r>
            <a:endParaRPr sz="4000">
              <a:solidFill>
                <a:srgbClr val="FFFFFF"/>
              </a:solidFill>
              <a:latin typeface="Roboto Black"/>
              <a:ea typeface="Roboto Black"/>
              <a:cs typeface="Roboto Black"/>
              <a:sym typeface="Roboto Black"/>
            </a:endParaRPr>
          </a:p>
        </p:txBody>
      </p:sp>
      <p:sp>
        <p:nvSpPr>
          <p:cNvPr id="120" name="Google Shape;120;p20"/>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21" name="Google Shape;121;p20"/>
          <p:cNvSpPr txBox="1"/>
          <p:nvPr/>
        </p:nvSpPr>
        <p:spPr>
          <a:xfrm>
            <a:off x="-12725" y="10458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Inception-V3: </a:t>
            </a:r>
            <a:endParaRPr sz="1800" u="sng">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Google tarafından geliştirilen bu mimari, farklı boyutlardaki filtreleri aynı katmanda paralel çalıştırarak görüntüyü çok ölçekli analiz eder.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Hesaplama maliyetini düşürmek için faktörize edilmiş konvolüsyonlar kullanır.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299x299 piksel giriş çözünürlüğü, 1e-4 öğrenme oranı, 32 yığın boyutu ve 15 epoch süresiyle eğitilmiş olup; veri artırma aşamasında Resize, ToTensor ve Normalize teknikleri uygulanmıştır.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ResNetX-200MF:</a:t>
            </a:r>
            <a:r>
              <a:rPr lang="en">
                <a:solidFill>
                  <a:srgbClr val="FFFFFF"/>
                </a:solidFill>
                <a:latin typeface="Roboto Black"/>
                <a:ea typeface="Roboto Black"/>
                <a:cs typeface="Roboto Black"/>
                <a:sym typeface="Roboto Black"/>
              </a:rPr>
              <a:t>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ResNet mimarisinin oldukça derin ve özelleştirilmiş bir varyasyonudur.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İsmindeki "MF" (Multi-Fiber), ağın bilgi akışını daha ince gruplara bölerek (group convolution benzeri) hesaplama yükünü azaltırken temsil gücünü artırmayı hedefler.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128x128 piksel giriş çözünürlüğü, 1e-4 öğrenme oranı, 64 yığın boyutu ve 15 epoch süresiyle eğitilmiş olup; veri artırma aşamasında Resize, ToTensor ve Normalize teknikleri uygulanmıştır.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1"/>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27" name="Google Shape;127;p21"/>
          <p:cNvSpPr txBox="1"/>
          <p:nvPr/>
        </p:nvSpPr>
        <p:spPr>
          <a:xfrm>
            <a:off x="-25475" y="19925"/>
            <a:ext cx="9207900" cy="793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Fırat Soykan</a:t>
            </a:r>
            <a:endParaRPr sz="4000">
              <a:solidFill>
                <a:srgbClr val="FFFFFF"/>
              </a:solidFill>
              <a:latin typeface="Roboto Black"/>
              <a:ea typeface="Roboto Black"/>
              <a:cs typeface="Roboto Black"/>
              <a:sym typeface="Roboto Black"/>
            </a:endParaRPr>
          </a:p>
        </p:txBody>
      </p:sp>
      <p:sp>
        <p:nvSpPr>
          <p:cNvPr id="128" name="Google Shape;128;p21"/>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29" name="Google Shape;129;p21"/>
          <p:cNvSpPr txBox="1"/>
          <p:nvPr/>
        </p:nvSpPr>
        <p:spPr>
          <a:xfrm>
            <a:off x="-12725" y="10458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ResNet50: </a:t>
            </a:r>
            <a:endParaRPr sz="1800" u="sng">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"Artık (Residual) Bağlantılar" kullanarak çok derin ağlarda görülen kaybolan gradyan (vanishing gradient) problemini çözen, endüstri standardı bir modeldir.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50 katmanlı yapısıyla hem yüksek başarı hem de makul eğitim süresi sunar.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224x224 piksel (3 Kanal RGB) giriş çözünürlüğü, 32 yığın boyutu ve 10 epoch süresiyle eğitilmiş olup; veri artırma aşamasında RandomHorizontalFlip ve Rotation(10°) teknikleri uygulanmıştır.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800" u="sng">
                <a:solidFill>
                  <a:srgbClr val="FFFFFF"/>
                </a:solidFill>
                <a:latin typeface="Roboto Black"/>
                <a:ea typeface="Roboto Black"/>
                <a:cs typeface="Roboto Black"/>
                <a:sym typeface="Roboto Black"/>
              </a:rPr>
              <a:t>Wide-ResNet50-2:</a:t>
            </a:r>
            <a:r>
              <a:rPr lang="en">
                <a:solidFill>
                  <a:srgbClr val="FFFFFF"/>
                </a:solidFill>
                <a:latin typeface="Roboto Black"/>
                <a:ea typeface="Roboto Black"/>
                <a:cs typeface="Roboto Black"/>
                <a:sym typeface="Roboto Black"/>
              </a:rPr>
              <a:t>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Derinliği artırmak yerine ağın genişliğini (kanal sayısını) artıran bir yaklaşımdır.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Standart ResNet50'ye göre her katmanda 2 kat daha fazla filtreye sahiptir; bu da modelin daha zengin öznitelikleri daha hızlı öğrenmesini sağlar.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224x224 piksel (3 Kanal RGB) giriş çözünürlüğü, 32 yığın boyutu ve 10 epoch süresiyle eğitilmiş olup; veri artırma aşamasında RandomHorizontalFlip ve Rotation(10°)  teknikleri uygulanmıştır.</a:t>
            </a:r>
            <a:endParaRPr>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2"/>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35" name="Google Shape;135;p22"/>
          <p:cNvSpPr txBox="1"/>
          <p:nvPr/>
        </p:nvSpPr>
        <p:spPr>
          <a:xfrm>
            <a:off x="-25475" y="19925"/>
            <a:ext cx="9207900" cy="793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Ahmet Baran Vardar</a:t>
            </a:r>
            <a:endParaRPr sz="4000">
              <a:solidFill>
                <a:srgbClr val="FFFFFF"/>
              </a:solidFill>
              <a:latin typeface="Roboto Black"/>
              <a:ea typeface="Roboto Black"/>
              <a:cs typeface="Roboto Black"/>
              <a:sym typeface="Roboto Black"/>
            </a:endParaRPr>
          </a:p>
        </p:txBody>
      </p:sp>
      <p:sp>
        <p:nvSpPr>
          <p:cNvPr id="136" name="Google Shape;136;p22"/>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37" name="Google Shape;137;p22"/>
          <p:cNvSpPr txBox="1"/>
          <p:nvPr/>
        </p:nvSpPr>
        <p:spPr>
          <a:xfrm>
            <a:off x="-12725" y="10458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2200" u="sng">
                <a:solidFill>
                  <a:srgbClr val="FFFFFF"/>
                </a:solidFill>
                <a:latin typeface="Roboto Black"/>
                <a:ea typeface="Roboto Black"/>
                <a:cs typeface="Roboto Black"/>
                <a:sym typeface="Roboto Black"/>
              </a:rPr>
              <a:t>MobileNet-V3: </a:t>
            </a:r>
            <a:endParaRPr sz="2200" u="sng">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Mobil cihazlar için optimize edilmiş, Google'ın AutoML (Neural Architecture Search) teknolojisiyle tasarlanmış bir modeldir.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"Hard-swish" aktivasyon fonksiyonu ve geliştirilmiş blok yapısıyla düşük işlemci gücünde yüksek hız sunar.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0.001 öğrenme oranı ve Adam optimizasyonu kullanılarak toplam 15 epoch boyunca eğitilmiştir; 8'lik batch boyutu ve 224x224 giriş çözünürlüğü ile, rastgele yatay çevirme, 15 dereceye kadar döndürme, parlaklık ayarı (%20) ve gri tonlamadan 3 kanala dönüştürme içeren veri artırma teknikleri uygulanmıştır.</a:t>
            </a:r>
            <a:endParaRPr>
              <a:solidFill>
                <a:srgbClr val="FFFFFF"/>
              </a:solidFill>
              <a:latin typeface="Roboto Black"/>
              <a:ea typeface="Roboto Black"/>
              <a:cs typeface="Roboto Black"/>
              <a:sym typeface="Roboto Black"/>
            </a:endParaRPr>
          </a:p>
          <a:p>
            <a:pPr marL="0" lvl="0" indent="0" algn="l" rtl="0">
              <a:spcBef>
                <a:spcPts val="0"/>
              </a:spcBef>
              <a:spcAft>
                <a:spcPts val="0"/>
              </a:spcAft>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2200">
                <a:solidFill>
                  <a:srgbClr val="FFFFFF"/>
                </a:solidFill>
                <a:latin typeface="Roboto Black"/>
                <a:ea typeface="Roboto Black"/>
                <a:cs typeface="Roboto Black"/>
                <a:sym typeface="Roboto Black"/>
              </a:rPr>
              <a:t> </a:t>
            </a:r>
            <a:r>
              <a:rPr lang="en" sz="2200" u="sng">
                <a:solidFill>
                  <a:srgbClr val="FFFFFF"/>
                </a:solidFill>
                <a:latin typeface="Roboto Black"/>
                <a:ea typeface="Roboto Black"/>
                <a:cs typeface="Roboto Black"/>
                <a:sym typeface="Roboto Black"/>
              </a:rPr>
              <a:t>EfficientNet-B0:</a:t>
            </a:r>
            <a:r>
              <a:rPr lang="en" sz="2200">
                <a:solidFill>
                  <a:srgbClr val="FFFFFF"/>
                </a:solidFill>
                <a:latin typeface="Roboto Black"/>
                <a:ea typeface="Roboto Black"/>
                <a:cs typeface="Roboto Black"/>
                <a:sym typeface="Roboto Black"/>
              </a:rPr>
              <a:t> </a:t>
            </a:r>
            <a:endParaRPr sz="22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Modelin derinliğini, genişliğini ve çözünürlüğünü rastgele değil, belirli bir katsayı ile dengeli bir şekilde artıran "Bileşik Ölçekleme" (Compound Scaling) yöntemini kullanır.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Parametre verimliliği açısından en başarılı modellerden biridir.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224x224 giriş çözünürlüğüne sahip önceden eğitilmiş bir EfficientNet-B0 mimarisi kullanılarak, 8'lik batch boyutuyla, gri tonlamadan 3 kanala dönüştürme (Grayscale-to-RGB), rastgele yatay çevirme, 15 derece rastgele döndürme ve parlaklık ayarı (%20) içeren veri artırma teknikleriyle, Adam optimizasyonu ve 0.001 öğrenme oranı kullanılarak toplam 15 epoch boyunca eğitilmiştir.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1600">
              <a:solidFill>
                <a:srgbClr val="FFFFFF"/>
              </a:solidFill>
              <a:latin typeface="Roboto Black"/>
              <a:ea typeface="Roboto Black"/>
              <a:cs typeface="Roboto Black"/>
              <a:sym typeface="Roboto Black"/>
            </a:endParaRPr>
          </a:p>
          <a:p>
            <a:pPr marL="45720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3"/>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43" name="Google Shape;143;p23"/>
          <p:cNvSpPr txBox="1"/>
          <p:nvPr/>
        </p:nvSpPr>
        <p:spPr>
          <a:xfrm>
            <a:off x="-25475" y="19925"/>
            <a:ext cx="9207900" cy="793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4000">
                <a:solidFill>
                  <a:schemeClr val="lt1"/>
                </a:solidFill>
                <a:latin typeface="Roboto Black"/>
                <a:ea typeface="Roboto Black"/>
                <a:cs typeface="Roboto Black"/>
                <a:sym typeface="Roboto Black"/>
              </a:rPr>
              <a:t>Efe Yaman Sir</a:t>
            </a:r>
            <a:endParaRPr sz="4000">
              <a:solidFill>
                <a:schemeClr val="lt1"/>
              </a:solidFill>
              <a:latin typeface="Roboto Black"/>
              <a:ea typeface="Roboto Black"/>
              <a:cs typeface="Roboto Black"/>
              <a:sym typeface="Roboto Black"/>
            </a:endParaRPr>
          </a:p>
        </p:txBody>
      </p:sp>
      <p:sp>
        <p:nvSpPr>
          <p:cNvPr id="144" name="Google Shape;144;p23"/>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45" name="Google Shape;145;p23"/>
          <p:cNvSpPr txBox="1"/>
          <p:nvPr/>
        </p:nvSpPr>
        <p:spPr>
          <a:xfrm>
            <a:off x="-12725" y="10458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2200" u="sng">
                <a:solidFill>
                  <a:srgbClr val="FFFFFF"/>
                </a:solidFill>
                <a:latin typeface="Roboto Black"/>
                <a:ea typeface="Roboto Black"/>
                <a:cs typeface="Roboto Black"/>
                <a:sym typeface="Roboto Black"/>
              </a:rPr>
              <a:t>SqueezeNet V1.1: </a:t>
            </a:r>
            <a:endParaRPr sz="2200" u="sng">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"Fire Module" adı verilen sıkıştırma ve genişletme katmanlarıyla tasarlanmıştır.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AlexNet seviyesinde bir doğruluğu, yaklaşık 50 kat daha az parametre ile sunarak bellek kullanımını minimize eder.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Başlangıçta 0.0001 ve ince ayarda 0.00001 öğrenme oranları kullanılarak toplam 25 epoch (20 + 5) boyunca eğitilmiştir; 32'lik batch boyutu ve 227x227 giriş çözünürlüğü ile, rastgele yatay çevirme, 15 dereceye kadar döndürme, parlaklık/kontrast ayarı (%20) ve esnetme/yakınlaştırma (%80-120 ölçek) içeren veri artırma teknikleri uygulanmıştır.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2200" u="sng">
                <a:solidFill>
                  <a:srgbClr val="FFFFFF"/>
                </a:solidFill>
                <a:latin typeface="Roboto Black"/>
                <a:ea typeface="Roboto Black"/>
                <a:cs typeface="Roboto Black"/>
                <a:sym typeface="Roboto Black"/>
              </a:rPr>
              <a:t>ShuffleNet V2: </a:t>
            </a:r>
            <a:endParaRPr sz="2200" u="sng">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a:solidFill>
                  <a:srgbClr val="FFFFFF"/>
                </a:solidFill>
                <a:latin typeface="Roboto Black"/>
                <a:ea typeface="Roboto Black"/>
                <a:cs typeface="Roboto Black"/>
                <a:sym typeface="Roboto Black"/>
              </a:rPr>
              <a:t>Özellikle donanım hızına odaklanan bu mimari, "Channel Shuffle" (Kanal Karıştırma) tekniğini kullanır.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Bu sayede grup konvolüsyonlarının yarattığı bilgi tıkanıklığını aşar ve gerçek zamanlı uygulamalar için ideal bir hız/doğruluk dengesi sağlar. </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a:solidFill>
                  <a:srgbClr val="FFFFFF"/>
                </a:solidFill>
                <a:latin typeface="Roboto Black"/>
                <a:ea typeface="Roboto Black"/>
                <a:cs typeface="Roboto Black"/>
                <a:sym typeface="Roboto Black"/>
              </a:rPr>
              <a:t>Model, 224x224 giriş çözünürlüğüne sahip önceden eğitilmiş bir ShuffleNetV2_x1_0 mimarisi kullanılarak, 32'lik batch boyutuyla, yatay çevirme, 15 derece rastgele döndürme ve gri tonlamadan 3 kanala dönüştürme veri artırma teknikleriyle, başlangıçta 0.001 ve fine-tuning aşamasında 1e-5 öğrenme oranları ile sırasıyla 15 ve 10 epoch olmak üzere toplam 25 epoch eğitilmiştir.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4"/>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51" name="Google Shape;151;p24"/>
          <p:cNvSpPr txBox="1"/>
          <p:nvPr/>
        </p:nvSpPr>
        <p:spPr>
          <a:xfrm>
            <a:off x="-31950" y="198100"/>
            <a:ext cx="9207900" cy="514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lt1"/>
                </a:solidFill>
                <a:latin typeface="Roboto Black"/>
                <a:ea typeface="Roboto Black"/>
                <a:cs typeface="Roboto Black"/>
                <a:sym typeface="Roboto Black"/>
              </a:rPr>
              <a:t>Deney Kurgusu ve Validasyon</a:t>
            </a:r>
            <a:endParaRPr sz="3500">
              <a:solidFill>
                <a:schemeClr val="lt1"/>
              </a:solidFill>
              <a:latin typeface="Roboto Black"/>
              <a:ea typeface="Roboto Black"/>
              <a:cs typeface="Roboto Black"/>
              <a:sym typeface="Roboto Black"/>
            </a:endParaRPr>
          </a:p>
        </p:txBody>
      </p:sp>
      <p:sp>
        <p:nvSpPr>
          <p:cNvPr id="152" name="Google Shape;152;p24"/>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53" name="Google Shape;153;p24"/>
          <p:cNvSpPr txBox="1"/>
          <p:nvPr/>
        </p:nvSpPr>
        <p:spPr>
          <a:xfrm>
            <a:off x="-12725" y="1059550"/>
            <a:ext cx="9182400" cy="38748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u="sng">
                <a:solidFill>
                  <a:srgbClr val="FFFFFF"/>
                </a:solidFill>
                <a:latin typeface="Roboto Black"/>
                <a:ea typeface="Roboto Black"/>
                <a:cs typeface="Roboto Black"/>
                <a:sym typeface="Roboto Black"/>
              </a:rPr>
              <a:t>Veri Ayrımı:</a:t>
            </a:r>
            <a:r>
              <a:rPr lang="en">
                <a:solidFill>
                  <a:srgbClr val="FFFFFF"/>
                </a:solidFill>
                <a:latin typeface="Roboto Black"/>
                <a:ea typeface="Roboto Black"/>
                <a:cs typeface="Roboto Black"/>
                <a:sym typeface="Roboto Black"/>
              </a:rPr>
              <a:t> FER-2013 veri seti, Kaggle standartlarına uygun olarak Eğitim (Train) ve Validasyon (Test) setlerine ayrılmıştır.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1600" u="sng">
                <a:solidFill>
                  <a:srgbClr val="FFFFFF"/>
                </a:solidFill>
                <a:latin typeface="Roboto Black"/>
                <a:ea typeface="Roboto Black"/>
                <a:cs typeface="Roboto Black"/>
                <a:sym typeface="Roboto Black"/>
              </a:rPr>
              <a:t>Eğitim Stratejisi:</a:t>
            </a:r>
            <a:r>
              <a:rPr lang="en">
                <a:solidFill>
                  <a:srgbClr val="FFFFFF"/>
                </a:solidFill>
                <a:latin typeface="Roboto Black"/>
                <a:ea typeface="Roboto Black"/>
                <a:cs typeface="Roboto Black"/>
                <a:sym typeface="Roboto Black"/>
              </a:rPr>
              <a:t> Modeller, kendilerine göre belirli epochlar boyunca eğitilmiş ve validasyon seti üzerinde test edilmiştir.</a:t>
            </a:r>
            <a:endParaRPr>
              <a:solidFill>
                <a:srgbClr val="FFFFFF"/>
              </a:solidFill>
              <a:latin typeface="Roboto Black"/>
              <a:ea typeface="Roboto Black"/>
              <a:cs typeface="Roboto Black"/>
              <a:sym typeface="Roboto Black"/>
            </a:endParaRPr>
          </a:p>
          <a:p>
            <a:pPr marL="0" lvl="0" indent="0" algn="l"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2000">
                <a:solidFill>
                  <a:srgbClr val="FFFFFF"/>
                </a:solidFill>
                <a:latin typeface="Roboto Black"/>
                <a:ea typeface="Roboto Black"/>
                <a:cs typeface="Roboto Black"/>
                <a:sym typeface="Roboto Black"/>
              </a:rPr>
              <a:t>Başarı Değerlendirmesi</a:t>
            </a: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600" u="sng">
                <a:solidFill>
                  <a:srgbClr val="FFFFFF"/>
                </a:solidFill>
                <a:latin typeface="Roboto Black"/>
                <a:ea typeface="Roboto Black"/>
                <a:cs typeface="Roboto Black"/>
                <a:sym typeface="Roboto Black"/>
              </a:rPr>
              <a:t>1. Accuracy:</a:t>
            </a:r>
            <a:r>
              <a:rPr lang="en">
                <a:solidFill>
                  <a:srgbClr val="FFFFFF"/>
                </a:solidFill>
                <a:latin typeface="Roboto Black"/>
                <a:ea typeface="Roboto Black"/>
                <a:cs typeface="Roboto Black"/>
                <a:sym typeface="Roboto Black"/>
              </a:rPr>
              <a:t> Genel sınıflandırma başarısı.</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600" u="sng">
                <a:solidFill>
                  <a:srgbClr val="FFFFFF"/>
                </a:solidFill>
                <a:latin typeface="Roboto Black"/>
                <a:ea typeface="Roboto Black"/>
                <a:cs typeface="Roboto Black"/>
                <a:sym typeface="Roboto Black"/>
              </a:rPr>
              <a:t>2. ROC Eğrisi:</a:t>
            </a:r>
            <a:r>
              <a:rPr lang="en">
                <a:solidFill>
                  <a:srgbClr val="FFFFFF"/>
                </a:solidFill>
                <a:latin typeface="Roboto Black"/>
                <a:ea typeface="Roboto Black"/>
                <a:cs typeface="Roboto Black"/>
                <a:sym typeface="Roboto Black"/>
              </a:rPr>
              <a:t> Özellikle birbirine karışan duyguların (Korku vs. Şaşkınlık) model tarafından ne kadar net ayırt edilebildiğini analiz etmek için.</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600" u="sng">
                <a:solidFill>
                  <a:srgbClr val="FFFFFF"/>
                </a:solidFill>
                <a:latin typeface="Roboto Black"/>
                <a:ea typeface="Roboto Black"/>
                <a:cs typeface="Roboto Black"/>
                <a:sym typeface="Roboto Black"/>
              </a:rPr>
              <a:t>3. Karmaşıklık Matrisi (Confusion Matrix):</a:t>
            </a:r>
            <a:r>
              <a:rPr lang="en" sz="1800">
                <a:solidFill>
                  <a:srgbClr val="FFFFFF"/>
                </a:solidFill>
                <a:latin typeface="Roboto Black"/>
                <a:ea typeface="Roboto Black"/>
                <a:cs typeface="Roboto Black"/>
                <a:sym typeface="Roboto Black"/>
              </a:rPr>
              <a:t> </a:t>
            </a:r>
            <a:r>
              <a:rPr lang="en">
                <a:solidFill>
                  <a:srgbClr val="FFFFFF"/>
                </a:solidFill>
                <a:latin typeface="Roboto Black"/>
                <a:ea typeface="Roboto Black"/>
                <a:cs typeface="Roboto Black"/>
                <a:sym typeface="Roboto Black"/>
              </a:rPr>
              <a:t>Sınıf bazlı hataların görselleştirilmesi için.</a:t>
            </a:r>
            <a:endParaRPr>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1600" u="sng">
                <a:solidFill>
                  <a:srgbClr val="FFFFFF"/>
                </a:solidFill>
                <a:latin typeface="Roboto Black"/>
                <a:ea typeface="Roboto Black"/>
                <a:cs typeface="Roboto Black"/>
                <a:sym typeface="Roboto Black"/>
              </a:rPr>
              <a:t>4. Loss (Kayıp) Grafikleri:</a:t>
            </a:r>
            <a:r>
              <a:rPr lang="en">
                <a:solidFill>
                  <a:srgbClr val="FFFFFF"/>
                </a:solidFill>
                <a:latin typeface="Roboto Black"/>
                <a:ea typeface="Roboto Black"/>
                <a:cs typeface="Roboto Black"/>
                <a:sym typeface="Roboto Black"/>
              </a:rPr>
              <a:t> Eğitim (Train) ve Validasyon (Validation) kayıp eğrilerinin epoch'lar boyunca değişimi incelenmiştir. Bu grafik, modelin öğrenip öğrenmediğini veya ezberleyip ezberlemediğini (overfitting) tespit etmek için kullanılmıştır.</a:t>
            </a: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5"/>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59" name="Google Shape;159;p25"/>
          <p:cNvSpPr txBox="1"/>
          <p:nvPr/>
        </p:nvSpPr>
        <p:spPr>
          <a:xfrm>
            <a:off x="-25475" y="19925"/>
            <a:ext cx="9207900" cy="5145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latin typeface="Roboto Black"/>
                <a:ea typeface="Roboto Black"/>
                <a:cs typeface="Roboto Black"/>
                <a:sym typeface="Roboto Black"/>
              </a:rPr>
              <a:t>Deney Kurgusu ve Validasyon</a:t>
            </a:r>
            <a:endParaRPr sz="3000">
              <a:solidFill>
                <a:schemeClr val="lt1"/>
              </a:solidFill>
              <a:latin typeface="Roboto Black"/>
              <a:ea typeface="Roboto Black"/>
              <a:cs typeface="Roboto Black"/>
              <a:sym typeface="Roboto Black"/>
            </a:endParaRPr>
          </a:p>
        </p:txBody>
      </p:sp>
      <p:sp>
        <p:nvSpPr>
          <p:cNvPr id="160" name="Google Shape;160;p25"/>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61" name="Google Shape;161;p25"/>
          <p:cNvSpPr txBox="1"/>
          <p:nvPr/>
        </p:nvSpPr>
        <p:spPr>
          <a:xfrm>
            <a:off x="-12725" y="447600"/>
            <a:ext cx="9182400" cy="42483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endParaRPr>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a:solidFill>
                <a:srgbClr val="FFFFFF"/>
              </a:solidFill>
              <a:latin typeface="Roboto Black"/>
              <a:ea typeface="Roboto Black"/>
              <a:cs typeface="Roboto Black"/>
              <a:sym typeface="Roboto Black"/>
            </a:endParaRPr>
          </a:p>
        </p:txBody>
      </p:sp>
      <p:pic>
        <p:nvPicPr>
          <p:cNvPr id="162" name="Google Shape;162;p25"/>
          <p:cNvPicPr preferRelativeResize="0"/>
          <p:nvPr/>
        </p:nvPicPr>
        <p:blipFill>
          <a:blip r:embed="rId4">
            <a:alphaModFix/>
          </a:blip>
          <a:stretch>
            <a:fillRect/>
          </a:stretch>
        </p:blipFill>
        <p:spPr>
          <a:xfrm>
            <a:off x="1122916" y="4238925"/>
            <a:ext cx="6898157" cy="616425"/>
          </a:xfrm>
          <a:prstGeom prst="rect">
            <a:avLst/>
          </a:prstGeom>
          <a:noFill/>
          <a:ln>
            <a:noFill/>
          </a:ln>
        </p:spPr>
      </p:pic>
      <p:pic>
        <p:nvPicPr>
          <p:cNvPr id="163" name="Google Shape;163;p25"/>
          <p:cNvPicPr preferRelativeResize="0"/>
          <p:nvPr/>
        </p:nvPicPr>
        <p:blipFill>
          <a:blip r:embed="rId5">
            <a:alphaModFix/>
          </a:blip>
          <a:stretch>
            <a:fillRect/>
          </a:stretch>
        </p:blipFill>
        <p:spPr>
          <a:xfrm>
            <a:off x="1168887" y="669100"/>
            <a:ext cx="6386200" cy="894075"/>
          </a:xfrm>
          <a:prstGeom prst="rect">
            <a:avLst/>
          </a:prstGeom>
          <a:noFill/>
          <a:ln>
            <a:noFill/>
          </a:ln>
        </p:spPr>
      </p:pic>
      <p:pic>
        <p:nvPicPr>
          <p:cNvPr id="164" name="Google Shape;164;p25"/>
          <p:cNvPicPr preferRelativeResize="0"/>
          <p:nvPr/>
        </p:nvPicPr>
        <p:blipFill>
          <a:blip r:embed="rId6">
            <a:alphaModFix/>
          </a:blip>
          <a:stretch>
            <a:fillRect/>
          </a:stretch>
        </p:blipFill>
        <p:spPr>
          <a:xfrm>
            <a:off x="2689637" y="1563175"/>
            <a:ext cx="3344675" cy="2675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a:stretch/>
        </p:blipFill>
        <p:spPr>
          <a:xfrm>
            <a:off x="-28700" y="-16025"/>
            <a:ext cx="9207900" cy="5159525"/>
          </a:xfrm>
          <a:prstGeom prst="rect">
            <a:avLst/>
          </a:prstGeom>
          <a:noFill/>
          <a:ln>
            <a:noFill/>
          </a:ln>
        </p:spPr>
      </p:pic>
      <p:sp>
        <p:nvSpPr>
          <p:cNvPr id="170" name="Google Shape;170;p26"/>
          <p:cNvSpPr txBox="1"/>
          <p:nvPr/>
        </p:nvSpPr>
        <p:spPr>
          <a:xfrm>
            <a:off x="-28700" y="337075"/>
            <a:ext cx="9207900" cy="646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chemeClr val="lt1"/>
                </a:solidFill>
                <a:latin typeface="Roboto Black"/>
                <a:ea typeface="Roboto Black"/>
                <a:cs typeface="Roboto Black"/>
                <a:sym typeface="Roboto Black"/>
              </a:rPr>
              <a:t>DEVEMOTION</a:t>
            </a:r>
            <a:endParaRPr sz="5000">
              <a:solidFill>
                <a:schemeClr val="lt1"/>
              </a:solidFill>
              <a:latin typeface="Roboto Black"/>
              <a:ea typeface="Roboto Black"/>
              <a:cs typeface="Roboto Black"/>
              <a:sym typeface="Roboto Black"/>
            </a:endParaRPr>
          </a:p>
        </p:txBody>
      </p:sp>
      <p:sp>
        <p:nvSpPr>
          <p:cNvPr id="171" name="Google Shape;171;p26"/>
          <p:cNvSpPr txBox="1"/>
          <p:nvPr/>
        </p:nvSpPr>
        <p:spPr>
          <a:xfrm>
            <a:off x="150" y="3477025"/>
            <a:ext cx="9143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3000">
              <a:solidFill>
                <a:srgbClr val="FFFFFF"/>
              </a:solidFill>
              <a:latin typeface="Roboto Black"/>
              <a:ea typeface="Roboto Black"/>
              <a:cs typeface="Roboto Black"/>
              <a:sym typeface="Roboto Black"/>
            </a:endParaRPr>
          </a:p>
        </p:txBody>
      </p:sp>
      <p:sp>
        <p:nvSpPr>
          <p:cNvPr id="172" name="Google Shape;172;p26"/>
          <p:cNvSpPr txBox="1"/>
          <p:nvPr/>
        </p:nvSpPr>
        <p:spPr>
          <a:xfrm>
            <a:off x="-15950" y="1080300"/>
            <a:ext cx="9182400" cy="2982900"/>
          </a:xfrm>
          <a:prstGeom prst="rect">
            <a:avLst/>
          </a:prstGeom>
          <a:noFill/>
          <a:ln>
            <a:noFill/>
          </a:ln>
          <a:effectLst>
            <a:outerShdw blurRad="57150" dist="19050" dir="5400000" algn="bl" rotWithShape="0">
              <a:srgbClr val="000000">
                <a:alpha val="70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FFFFFF"/>
                </a:solidFill>
                <a:latin typeface="Roboto Black"/>
                <a:ea typeface="Roboto Black"/>
                <a:cs typeface="Roboto Black"/>
                <a:sym typeface="Roboto Black"/>
              </a:rPr>
              <a:t>Efe Yaman Sir - 23040301057 - efeyamansir@stu.topkapi.edu.tr</a:t>
            </a: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2000">
                <a:solidFill>
                  <a:srgbClr val="FFFFFF"/>
                </a:solidFill>
                <a:latin typeface="Roboto Black"/>
                <a:ea typeface="Roboto Black"/>
                <a:cs typeface="Roboto Black"/>
                <a:sym typeface="Roboto Black"/>
              </a:rPr>
              <a:t>Mert Ali Kızılkaya - 23040301051 - mertalikizilkaya@stu.topkapi.edu.tr</a:t>
            </a: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2000">
                <a:solidFill>
                  <a:srgbClr val="FFFFFF"/>
                </a:solidFill>
                <a:latin typeface="Roboto Black"/>
                <a:ea typeface="Roboto Black"/>
                <a:cs typeface="Roboto Black"/>
                <a:sym typeface="Roboto Black"/>
              </a:rPr>
              <a:t>Fırat Soykan - 23040301060 - firatsoykan@stu.topkapi.edu.tr</a:t>
            </a: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None/>
            </a:pPr>
            <a:r>
              <a:rPr lang="en" sz="2000">
                <a:solidFill>
                  <a:srgbClr val="FFFFFF"/>
                </a:solidFill>
                <a:latin typeface="Roboto Black"/>
                <a:ea typeface="Roboto Black"/>
                <a:cs typeface="Roboto Black"/>
                <a:sym typeface="Roboto Black"/>
              </a:rPr>
              <a:t>Ahmet Baran Vardar - 23040301112 - ahmetbaranvardar@stu.topkapi.edu.tr</a:t>
            </a: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Clr>
                <a:schemeClr val="dk1"/>
              </a:buClr>
              <a:buSzPts val="1100"/>
              <a:buFont typeface="Arial"/>
              <a:buNone/>
            </a:pPr>
            <a:r>
              <a:rPr lang="en" sz="2000">
                <a:solidFill>
                  <a:srgbClr val="FFFFFF"/>
                </a:solidFill>
                <a:latin typeface="Roboto Black"/>
                <a:ea typeface="Roboto Black"/>
                <a:cs typeface="Roboto Black"/>
                <a:sym typeface="Roboto Black"/>
              </a:rPr>
              <a:t>Yiğit Ali Çolakoğlu - 23040301061 - yigitalicolakoglu@stu.topkapi.edu.tr</a:t>
            </a:r>
            <a:endParaRPr sz="2000">
              <a:solidFill>
                <a:srgbClr val="FFFFFF"/>
              </a:solidFill>
              <a:latin typeface="Roboto Black"/>
              <a:ea typeface="Roboto Black"/>
              <a:cs typeface="Roboto Black"/>
              <a:sym typeface="Roboto Black"/>
            </a:endParaRPr>
          </a:p>
          <a:p>
            <a:pPr marL="0" lvl="0" indent="0" algn="ctr" rtl="0">
              <a:spcBef>
                <a:spcPts val="0"/>
              </a:spcBef>
              <a:spcAft>
                <a:spcPts val="0"/>
              </a:spcAft>
              <a:buNone/>
            </a:pPr>
            <a:endParaRPr sz="2000">
              <a:solidFill>
                <a:srgbClr val="FFFFFF"/>
              </a:solidFill>
              <a:latin typeface="Roboto Black"/>
              <a:ea typeface="Roboto Black"/>
              <a:cs typeface="Roboto Black"/>
              <a:sym typeface="Roboto Black"/>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Ekran Gösterisi (16:9)</PresentationFormat>
  <Slides>14</Slides>
  <Notes>14</Notes>
  <HiddenSlides>0</HiddenSlides>
  <ScaleCrop>false</ScaleCrop>
  <HeadingPairs>
    <vt:vector size="4" baseType="variant">
      <vt:variant>
        <vt:lpstr>Tema</vt:lpstr>
      </vt:variant>
      <vt:variant>
        <vt:i4>1</vt:i4>
      </vt:variant>
      <vt:variant>
        <vt:lpstr>Slayt Başlıkları</vt:lpstr>
      </vt:variant>
      <vt:variant>
        <vt:i4>14</vt:i4>
      </vt:variant>
    </vt:vector>
  </HeadingPairs>
  <TitlesOfParts>
    <vt:vector size="15" baseType="lpstr">
      <vt:lpstr>Simple Light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20</cp:revision>
  <dcterms:modified xsi:type="dcterms:W3CDTF">2025-12-29T21:52:55Z</dcterms:modified>
</cp:coreProperties>
</file>